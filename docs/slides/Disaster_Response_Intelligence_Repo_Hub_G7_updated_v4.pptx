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70" r:id="rId7"/>
    <p:sldId id="264" r:id="rId8"/>
    <p:sldId id="261" r:id="rId9"/>
    <p:sldId id="262" r:id="rId10"/>
    <p:sldId id="263"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1325880"/>
            <a:ext cx="10698480" cy="1325880"/>
          </a:xfrm>
          <a:prstGeom prst="rect">
            <a:avLst/>
          </a:prstGeom>
          <a:noFill/>
        </p:spPr>
        <p:txBody>
          <a:bodyPr wrap="square" anchor="t">
            <a:spAutoFit/>
          </a:bodyPr>
          <a:lstStyle/>
          <a:p>
            <a:pPr algn="l"/>
            <a:r>
              <a:rPr sz="3400" b="1">
                <a:solidFill>
                  <a:srgbClr val="1C1E22"/>
                </a:solidFill>
                <a:latin typeface="Aptos"/>
              </a:rPr>
              <a:t>DISASTER RESPONSE
INTELLIGENCE REPO HUB</a:t>
            </a:r>
          </a:p>
        </p:txBody>
      </p:sp>
      <p:sp>
        <p:nvSpPr>
          <p:cNvPr id="3" name="TextBox 2"/>
          <p:cNvSpPr txBox="1"/>
          <p:nvPr/>
        </p:nvSpPr>
        <p:spPr>
          <a:xfrm>
            <a:off x="749808" y="2971800"/>
            <a:ext cx="9601200" cy="365760"/>
          </a:xfrm>
          <a:prstGeom prst="rect">
            <a:avLst/>
          </a:prstGeom>
          <a:noFill/>
        </p:spPr>
        <p:txBody>
          <a:bodyPr wrap="square" anchor="t">
            <a:spAutoFit/>
          </a:bodyPr>
          <a:lstStyle/>
          <a:p>
            <a:pPr algn="l"/>
            <a:r>
              <a:rPr sz="1700" b="1">
                <a:solidFill>
                  <a:srgbClr val="1C1E22"/>
                </a:solidFill>
                <a:latin typeface="Aptos"/>
              </a:rPr>
              <a:t>AI-Powered Developer Onboarding &amp; Intelligence Tool</a:t>
            </a:r>
          </a:p>
        </p:txBody>
      </p:sp>
      <p:sp>
        <p:nvSpPr>
          <p:cNvPr id="4" name="Rectangle 3"/>
          <p:cNvSpPr/>
          <p:nvPr/>
        </p:nvSpPr>
        <p:spPr>
          <a:xfrm>
            <a:off x="749808" y="3794760"/>
            <a:ext cx="2103120" cy="32004"/>
          </a:xfrm>
          <a:prstGeom prst="rect">
            <a:avLst/>
          </a:prstGeom>
          <a:solidFill>
            <a:srgbClr val="1C1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4407408"/>
            <a:ext cx="3657600" cy="320040"/>
          </a:xfrm>
          <a:prstGeom prst="rect">
            <a:avLst/>
          </a:prstGeom>
          <a:noFill/>
        </p:spPr>
        <p:txBody>
          <a:bodyPr wrap="square" anchor="t">
            <a:spAutoFit/>
          </a:bodyPr>
          <a:lstStyle/>
          <a:p>
            <a:pPr algn="l"/>
            <a:r>
              <a:rPr sz="1400" b="1">
                <a:solidFill>
                  <a:srgbClr val="1C1E22"/>
                </a:solidFill>
                <a:latin typeface="Aptos"/>
              </a:rPr>
              <a:t>Project Group: 7</a:t>
            </a:r>
          </a:p>
        </p:txBody>
      </p:sp>
      <p:sp>
        <p:nvSpPr>
          <p:cNvPr id="6" name="TextBox 5"/>
          <p:cNvSpPr txBox="1"/>
          <p:nvPr/>
        </p:nvSpPr>
        <p:spPr>
          <a:xfrm>
            <a:off x="749808" y="4800600"/>
            <a:ext cx="3840480" cy="960120"/>
          </a:xfrm>
          <a:prstGeom prst="rect">
            <a:avLst/>
          </a:prstGeom>
          <a:noFill/>
        </p:spPr>
        <p:txBody>
          <a:bodyPr wrap="square" anchor="t">
            <a:spAutoFit/>
          </a:bodyPr>
          <a:lstStyle/>
          <a:p>
            <a:pPr algn="l"/>
            <a:r>
              <a:rPr sz="1400" b="1">
                <a:solidFill>
                  <a:srgbClr val="1C1E22"/>
                </a:solidFill>
                <a:latin typeface="Aptos"/>
              </a:rPr>
              <a:t>Depender Singh
Manya Agarwal
Anmol Chaturvedi</a:t>
            </a:r>
          </a:p>
        </p:txBody>
      </p:sp>
      <p:sp>
        <p:nvSpPr>
          <p:cNvPr id="7" name="TextBox 6"/>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Problem Statement</a:t>
            </a:r>
          </a:p>
        </p:txBody>
      </p:sp>
      <p:sp>
        <p:nvSpPr>
          <p:cNvPr id="3" name="Rectangle 2"/>
          <p:cNvSpPr/>
          <p:nvPr/>
        </p:nvSpPr>
        <p:spPr>
          <a:xfrm>
            <a:off x="640080" y="932688"/>
            <a:ext cx="868680" cy="32004"/>
          </a:xfrm>
          <a:prstGeom prst="rect">
            <a:avLst/>
          </a:prstGeom>
          <a:solidFill>
            <a:srgbClr val="5F67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508760"/>
            <a:ext cx="10652760" cy="4069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1938528"/>
            <a:ext cx="9921240" cy="3154680"/>
          </a:xfrm>
          <a:prstGeom prst="rect">
            <a:avLst/>
          </a:prstGeom>
          <a:noFill/>
        </p:spPr>
        <p:txBody>
          <a:bodyPr wrap="square" anchor="ctr">
            <a:spAutoFit/>
          </a:bodyPr>
          <a:lstStyle/>
          <a:p>
            <a:pPr algn="l"/>
            <a:r>
              <a:rPr sz="1900" b="0">
                <a:solidFill>
                  <a:srgbClr val="1C1E22"/>
                </a:solidFill>
                <a:latin typeface="Aptos"/>
              </a:rPr>
              <a:t>The Ushahidi codebase is a large and complex PHP system used for crisis mapping and disaster response. For a new developer, understanding how controllers, classes, methods and APIs interact requires manually searching and tracing thousands of lines of unfamiliar code. Traditional keyword search is often too broad or misses semantically related logic. We therefore built an AI-powered developer onboarding tool that lets developers ask plain-English questions, retrieves the most relevant source-code evidence, and generates grounded explanations with visual architecture diagrams.</a:t>
            </a:r>
          </a:p>
        </p:txBody>
      </p:sp>
      <p:sp>
        <p:nvSpPr>
          <p:cNvPr id="6" name="TextBox 5"/>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Objectives</a:t>
            </a:r>
          </a:p>
        </p:txBody>
      </p:sp>
      <p:sp>
        <p:nvSpPr>
          <p:cNvPr id="3" name="Rectangle 2"/>
          <p:cNvSpPr/>
          <p:nvPr/>
        </p:nvSpPr>
        <p:spPr>
          <a:xfrm>
            <a:off x="640080" y="932688"/>
            <a:ext cx="868680" cy="32004"/>
          </a:xfrm>
          <a:prstGeom prst="rect">
            <a:avLst/>
          </a:prstGeom>
          <a:solidFill>
            <a:srgbClr val="5F67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417320"/>
            <a:ext cx="502920" cy="274320"/>
          </a:xfrm>
          <a:prstGeom prst="rect">
            <a:avLst/>
          </a:prstGeom>
          <a:noFill/>
        </p:spPr>
        <p:txBody>
          <a:bodyPr wrap="square" anchor="t">
            <a:spAutoFit/>
          </a:bodyPr>
          <a:lstStyle/>
          <a:p>
            <a:pPr algn="l"/>
            <a:r>
              <a:rPr sz="1300" b="1">
                <a:solidFill>
                  <a:srgbClr val="5F6772"/>
                </a:solidFill>
                <a:latin typeface="Aptos"/>
              </a:rPr>
              <a:t>01</a:t>
            </a:r>
          </a:p>
        </p:txBody>
      </p:sp>
      <p:sp>
        <p:nvSpPr>
          <p:cNvPr id="5" name="TextBox 4"/>
          <p:cNvSpPr txBox="1"/>
          <p:nvPr/>
        </p:nvSpPr>
        <p:spPr>
          <a:xfrm>
            <a:off x="1417320" y="1389888"/>
            <a:ext cx="9784080" cy="566928"/>
          </a:xfrm>
          <a:prstGeom prst="rect">
            <a:avLst/>
          </a:prstGeom>
          <a:noFill/>
        </p:spPr>
        <p:txBody>
          <a:bodyPr wrap="square" anchor="t">
            <a:spAutoFit/>
          </a:bodyPr>
          <a:lstStyle/>
          <a:p>
            <a:pPr algn="l"/>
            <a:r>
              <a:rPr sz="1700" b="0">
                <a:solidFill>
                  <a:srgbClr val="1C1E22"/>
                </a:solidFill>
                <a:latin typeface="Aptos"/>
              </a:rPr>
              <a:t>Enable natural-language questions about an unfamiliar PHP codebase.</a:t>
            </a:r>
          </a:p>
        </p:txBody>
      </p:sp>
      <p:sp>
        <p:nvSpPr>
          <p:cNvPr id="6" name="Rectangle 5"/>
          <p:cNvSpPr/>
          <p:nvPr/>
        </p:nvSpPr>
        <p:spPr>
          <a:xfrm>
            <a:off x="1417320" y="2103120"/>
            <a:ext cx="987552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377440"/>
            <a:ext cx="502920" cy="274320"/>
          </a:xfrm>
          <a:prstGeom prst="rect">
            <a:avLst/>
          </a:prstGeom>
          <a:noFill/>
        </p:spPr>
        <p:txBody>
          <a:bodyPr wrap="square" anchor="t">
            <a:spAutoFit/>
          </a:bodyPr>
          <a:lstStyle/>
          <a:p>
            <a:pPr algn="l"/>
            <a:r>
              <a:rPr sz="1300" b="1">
                <a:solidFill>
                  <a:srgbClr val="5F6772"/>
                </a:solidFill>
                <a:latin typeface="Aptos"/>
              </a:rPr>
              <a:t>02</a:t>
            </a:r>
          </a:p>
        </p:txBody>
      </p:sp>
      <p:sp>
        <p:nvSpPr>
          <p:cNvPr id="8" name="TextBox 7"/>
          <p:cNvSpPr txBox="1"/>
          <p:nvPr/>
        </p:nvSpPr>
        <p:spPr>
          <a:xfrm>
            <a:off x="1417320" y="2350008"/>
            <a:ext cx="9784080" cy="566928"/>
          </a:xfrm>
          <a:prstGeom prst="rect">
            <a:avLst/>
          </a:prstGeom>
          <a:noFill/>
        </p:spPr>
        <p:txBody>
          <a:bodyPr wrap="square" anchor="t">
            <a:spAutoFit/>
          </a:bodyPr>
          <a:lstStyle/>
          <a:p>
            <a:pPr algn="l"/>
            <a:r>
              <a:rPr sz="1700" b="0">
                <a:solidFill>
                  <a:srgbClr val="1C1E22"/>
                </a:solidFill>
                <a:latin typeface="Aptos"/>
              </a:rPr>
              <a:t>Convert source code into searchable, meaning-aware representations.</a:t>
            </a:r>
          </a:p>
        </p:txBody>
      </p:sp>
      <p:sp>
        <p:nvSpPr>
          <p:cNvPr id="9" name="Rectangle 8"/>
          <p:cNvSpPr/>
          <p:nvPr/>
        </p:nvSpPr>
        <p:spPr>
          <a:xfrm>
            <a:off x="1417320" y="3063240"/>
            <a:ext cx="987552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337560"/>
            <a:ext cx="502920" cy="274320"/>
          </a:xfrm>
          <a:prstGeom prst="rect">
            <a:avLst/>
          </a:prstGeom>
          <a:noFill/>
        </p:spPr>
        <p:txBody>
          <a:bodyPr wrap="square" anchor="t">
            <a:spAutoFit/>
          </a:bodyPr>
          <a:lstStyle/>
          <a:p>
            <a:pPr algn="l"/>
            <a:r>
              <a:rPr sz="1300" b="1">
                <a:solidFill>
                  <a:srgbClr val="5F6772"/>
                </a:solidFill>
                <a:latin typeface="Aptos"/>
              </a:rPr>
              <a:t>03</a:t>
            </a:r>
          </a:p>
        </p:txBody>
      </p:sp>
      <p:sp>
        <p:nvSpPr>
          <p:cNvPr id="11" name="TextBox 10"/>
          <p:cNvSpPr txBox="1"/>
          <p:nvPr/>
        </p:nvSpPr>
        <p:spPr>
          <a:xfrm>
            <a:off x="1417320" y="3310128"/>
            <a:ext cx="9784080" cy="566928"/>
          </a:xfrm>
          <a:prstGeom prst="rect">
            <a:avLst/>
          </a:prstGeom>
          <a:noFill/>
        </p:spPr>
        <p:txBody>
          <a:bodyPr wrap="square" anchor="t">
            <a:spAutoFit/>
          </a:bodyPr>
          <a:lstStyle/>
          <a:p>
            <a:pPr algn="l"/>
            <a:r>
              <a:rPr sz="1700" b="0">
                <a:solidFill>
                  <a:srgbClr val="1C1E22"/>
                </a:solidFill>
                <a:latin typeface="Aptos"/>
              </a:rPr>
              <a:t>Retrieve relevant code using semantic and code-level signals.</a:t>
            </a:r>
          </a:p>
        </p:txBody>
      </p:sp>
      <p:sp>
        <p:nvSpPr>
          <p:cNvPr id="12" name="Rectangle 11"/>
          <p:cNvSpPr/>
          <p:nvPr/>
        </p:nvSpPr>
        <p:spPr>
          <a:xfrm>
            <a:off x="1417320" y="4023360"/>
            <a:ext cx="987552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4297680"/>
            <a:ext cx="502920" cy="274320"/>
          </a:xfrm>
          <a:prstGeom prst="rect">
            <a:avLst/>
          </a:prstGeom>
          <a:noFill/>
        </p:spPr>
        <p:txBody>
          <a:bodyPr wrap="square" anchor="t">
            <a:spAutoFit/>
          </a:bodyPr>
          <a:lstStyle/>
          <a:p>
            <a:pPr algn="l"/>
            <a:r>
              <a:rPr sz="1300" b="1">
                <a:solidFill>
                  <a:srgbClr val="5F6772"/>
                </a:solidFill>
                <a:latin typeface="Aptos"/>
              </a:rPr>
              <a:t>04</a:t>
            </a:r>
          </a:p>
        </p:txBody>
      </p:sp>
      <p:sp>
        <p:nvSpPr>
          <p:cNvPr id="14" name="TextBox 13"/>
          <p:cNvSpPr txBox="1"/>
          <p:nvPr/>
        </p:nvSpPr>
        <p:spPr>
          <a:xfrm>
            <a:off x="1417320" y="4270248"/>
            <a:ext cx="9784080" cy="566928"/>
          </a:xfrm>
          <a:prstGeom prst="rect">
            <a:avLst/>
          </a:prstGeom>
          <a:noFill/>
        </p:spPr>
        <p:txBody>
          <a:bodyPr wrap="square" anchor="t">
            <a:spAutoFit/>
          </a:bodyPr>
          <a:lstStyle/>
          <a:p>
            <a:pPr algn="l"/>
            <a:r>
              <a:rPr sz="1700" b="0">
                <a:solidFill>
                  <a:srgbClr val="1C1E22"/>
                </a:solidFill>
                <a:latin typeface="Aptos"/>
              </a:rPr>
              <a:t>Use an LLM to rerank evidence and generate grounded answers.</a:t>
            </a:r>
          </a:p>
        </p:txBody>
      </p:sp>
      <p:sp>
        <p:nvSpPr>
          <p:cNvPr id="15" name="Rectangle 14"/>
          <p:cNvSpPr/>
          <p:nvPr/>
        </p:nvSpPr>
        <p:spPr>
          <a:xfrm>
            <a:off x="1417320" y="4983480"/>
            <a:ext cx="987552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257800"/>
            <a:ext cx="502920" cy="274320"/>
          </a:xfrm>
          <a:prstGeom prst="rect">
            <a:avLst/>
          </a:prstGeom>
          <a:noFill/>
        </p:spPr>
        <p:txBody>
          <a:bodyPr wrap="square" anchor="t">
            <a:spAutoFit/>
          </a:bodyPr>
          <a:lstStyle/>
          <a:p>
            <a:pPr algn="l"/>
            <a:r>
              <a:rPr sz="1300" b="1">
                <a:solidFill>
                  <a:srgbClr val="5F6772"/>
                </a:solidFill>
                <a:latin typeface="Aptos"/>
              </a:rPr>
              <a:t>05</a:t>
            </a:r>
          </a:p>
        </p:txBody>
      </p:sp>
      <p:sp>
        <p:nvSpPr>
          <p:cNvPr id="17" name="TextBox 16"/>
          <p:cNvSpPr txBox="1"/>
          <p:nvPr/>
        </p:nvSpPr>
        <p:spPr>
          <a:xfrm>
            <a:off x="1417320" y="5230368"/>
            <a:ext cx="9784080" cy="566928"/>
          </a:xfrm>
          <a:prstGeom prst="rect">
            <a:avLst/>
          </a:prstGeom>
          <a:noFill/>
        </p:spPr>
        <p:txBody>
          <a:bodyPr wrap="square" anchor="t">
            <a:spAutoFit/>
          </a:bodyPr>
          <a:lstStyle/>
          <a:p>
            <a:pPr algn="l"/>
            <a:r>
              <a:rPr sz="1700" b="0">
                <a:solidFill>
                  <a:srgbClr val="1C1E22"/>
                </a:solidFill>
                <a:latin typeface="Aptos"/>
              </a:rPr>
              <a:t>Present simple explanations, technical details, source evidence and visual diagrams.</a:t>
            </a:r>
          </a:p>
        </p:txBody>
      </p:sp>
      <p:sp>
        <p:nvSpPr>
          <p:cNvPr id="18" name="Rectangle 17"/>
          <p:cNvSpPr/>
          <p:nvPr/>
        </p:nvSpPr>
        <p:spPr>
          <a:xfrm>
            <a:off x="1417320" y="5943600"/>
            <a:ext cx="987552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Research Question</a:t>
            </a:r>
          </a:p>
        </p:txBody>
      </p:sp>
      <p:sp>
        <p:nvSpPr>
          <p:cNvPr id="3" name="Rectangle 2"/>
          <p:cNvSpPr/>
          <p:nvPr/>
        </p:nvSpPr>
        <p:spPr>
          <a:xfrm>
            <a:off x="640080" y="932688"/>
            <a:ext cx="868680" cy="32004"/>
          </a:xfrm>
          <a:prstGeom prst="rect">
            <a:avLst/>
          </a:prstGeom>
          <a:solidFill>
            <a:srgbClr val="84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2960" y="1600200"/>
            <a:ext cx="10515600" cy="2057400"/>
          </a:xfrm>
          <a:prstGeom prst="roundRect">
            <a:avLst>
              <a:gd name="adj" fmla="val 8000"/>
            </a:avLst>
          </a:prstGeom>
          <a:solidFill>
            <a:srgbClr val="FFFFFF"/>
          </a:solidFill>
          <a:ln w="25400">
            <a:solidFill>
              <a:srgbClr val="845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1938528"/>
            <a:ext cx="9784080" cy="1371600"/>
          </a:xfrm>
          <a:prstGeom prst="rect">
            <a:avLst/>
          </a:prstGeom>
          <a:noFill/>
        </p:spPr>
        <p:txBody>
          <a:bodyPr wrap="square" anchor="ctr">
            <a:spAutoFit/>
          </a:bodyPr>
          <a:lstStyle/>
          <a:p>
            <a:pPr algn="ctr"/>
            <a:r>
              <a:rPr sz="2000" b="1">
                <a:solidFill>
                  <a:srgbClr val="1C1E22"/>
                </a:solidFill>
                <a:latin typeface="Aptos"/>
              </a:rPr>
              <a:t>How does hybrid retrieval — combining semantic code search with explicit AST identifier/structural matching — coupled with an LLM re-ranking step improve the accuracy of retrieving relevant code snippets compared to raw vector semantic search alone?</a:t>
            </a:r>
          </a:p>
        </p:txBody>
      </p:sp>
      <p:sp>
        <p:nvSpPr>
          <p:cNvPr id="6" name="TextBox 5"/>
          <p:cNvSpPr txBox="1"/>
          <p:nvPr/>
        </p:nvSpPr>
        <p:spPr>
          <a:xfrm>
            <a:off x="822960" y="4069080"/>
            <a:ext cx="2743200" cy="320040"/>
          </a:xfrm>
          <a:prstGeom prst="rect">
            <a:avLst/>
          </a:prstGeom>
          <a:noFill/>
        </p:spPr>
        <p:txBody>
          <a:bodyPr wrap="square" anchor="t">
            <a:spAutoFit/>
          </a:bodyPr>
          <a:lstStyle/>
          <a:p>
            <a:pPr algn="l"/>
            <a:r>
              <a:rPr sz="1500" b="1">
                <a:solidFill>
                  <a:srgbClr val="845BAB"/>
                </a:solidFill>
                <a:latin typeface="Aptos"/>
              </a:rPr>
              <a:t>Experimental alignment</a:t>
            </a:r>
          </a:p>
        </p:txBody>
      </p:sp>
      <p:sp>
        <p:nvSpPr>
          <p:cNvPr id="7" name="TextBox 6"/>
          <p:cNvSpPr txBox="1"/>
          <p:nvPr/>
        </p:nvSpPr>
        <p:spPr>
          <a:xfrm>
            <a:off x="868680" y="4572000"/>
            <a:ext cx="1234440" cy="274320"/>
          </a:xfrm>
          <a:prstGeom prst="rect">
            <a:avLst/>
          </a:prstGeom>
          <a:noFill/>
        </p:spPr>
        <p:txBody>
          <a:bodyPr wrap="square" anchor="t">
            <a:spAutoFit/>
          </a:bodyPr>
          <a:lstStyle/>
          <a:p>
            <a:pPr algn="l"/>
            <a:r>
              <a:rPr sz="1300" b="1">
                <a:solidFill>
                  <a:srgbClr val="1C1E22"/>
                </a:solidFill>
                <a:latin typeface="Aptos"/>
              </a:rPr>
              <a:t>Problem</a:t>
            </a:r>
          </a:p>
        </p:txBody>
      </p:sp>
      <p:sp>
        <p:nvSpPr>
          <p:cNvPr id="8" name="TextBox 7"/>
          <p:cNvSpPr txBox="1"/>
          <p:nvPr/>
        </p:nvSpPr>
        <p:spPr>
          <a:xfrm>
            <a:off x="2057400" y="4553712"/>
            <a:ext cx="8869680" cy="502920"/>
          </a:xfrm>
          <a:prstGeom prst="rect">
            <a:avLst/>
          </a:prstGeom>
          <a:noFill/>
        </p:spPr>
        <p:txBody>
          <a:bodyPr wrap="square" anchor="t">
            <a:spAutoFit/>
          </a:bodyPr>
          <a:lstStyle/>
          <a:p>
            <a:pPr algn="l"/>
            <a:r>
              <a:rPr sz="1400" b="0">
                <a:solidFill>
                  <a:srgbClr val="373C44"/>
                </a:solidFill>
                <a:latin typeface="Aptos"/>
              </a:rPr>
              <a:t>Pure vector search can struggle with exact code names and implementation-level distinctions.</a:t>
            </a:r>
          </a:p>
        </p:txBody>
      </p:sp>
      <p:sp>
        <p:nvSpPr>
          <p:cNvPr id="9" name="TextBox 8"/>
          <p:cNvSpPr txBox="1"/>
          <p:nvPr/>
        </p:nvSpPr>
        <p:spPr>
          <a:xfrm>
            <a:off x="868680" y="5102352"/>
            <a:ext cx="1234440" cy="274320"/>
          </a:xfrm>
          <a:prstGeom prst="rect">
            <a:avLst/>
          </a:prstGeom>
          <a:noFill/>
        </p:spPr>
        <p:txBody>
          <a:bodyPr wrap="square" anchor="t">
            <a:spAutoFit/>
          </a:bodyPr>
          <a:lstStyle/>
          <a:p>
            <a:pPr algn="l"/>
            <a:r>
              <a:rPr sz="1300" b="1">
                <a:solidFill>
                  <a:srgbClr val="1C1E22"/>
                </a:solidFill>
                <a:latin typeface="Aptos"/>
              </a:rPr>
              <a:t>Method</a:t>
            </a:r>
          </a:p>
        </p:txBody>
      </p:sp>
      <p:sp>
        <p:nvSpPr>
          <p:cNvPr id="10" name="TextBox 9"/>
          <p:cNvSpPr txBox="1"/>
          <p:nvPr/>
        </p:nvSpPr>
        <p:spPr>
          <a:xfrm>
            <a:off x="2057400" y="5084064"/>
            <a:ext cx="8869680" cy="502920"/>
          </a:xfrm>
          <a:prstGeom prst="rect">
            <a:avLst/>
          </a:prstGeom>
          <a:noFill/>
        </p:spPr>
        <p:txBody>
          <a:bodyPr wrap="square" anchor="t">
            <a:spAutoFit/>
          </a:bodyPr>
          <a:lstStyle/>
          <a:p>
            <a:pPr algn="l"/>
            <a:r>
              <a:rPr sz="1400" b="0">
                <a:solidFill>
                  <a:srgbClr val="373C44"/>
                </a:solidFill>
                <a:latin typeface="Aptos"/>
              </a:rPr>
              <a:t>Hybrid scoring retrieves Top 10 candidates; Groq/Qwen reranks them to Top 3.</a:t>
            </a:r>
          </a:p>
        </p:txBody>
      </p:sp>
      <p:sp>
        <p:nvSpPr>
          <p:cNvPr id="11" name="TextBox 10"/>
          <p:cNvSpPr txBox="1"/>
          <p:nvPr/>
        </p:nvSpPr>
        <p:spPr>
          <a:xfrm>
            <a:off x="868680" y="5632704"/>
            <a:ext cx="1234440" cy="274320"/>
          </a:xfrm>
          <a:prstGeom prst="rect">
            <a:avLst/>
          </a:prstGeom>
          <a:noFill/>
        </p:spPr>
        <p:txBody>
          <a:bodyPr wrap="square" anchor="t">
            <a:spAutoFit/>
          </a:bodyPr>
          <a:lstStyle/>
          <a:p>
            <a:pPr algn="l"/>
            <a:r>
              <a:rPr sz="1300" b="1">
                <a:solidFill>
                  <a:srgbClr val="1C1E22"/>
                </a:solidFill>
                <a:latin typeface="Aptos"/>
              </a:rPr>
              <a:t>Experiment</a:t>
            </a:r>
          </a:p>
        </p:txBody>
      </p:sp>
      <p:sp>
        <p:nvSpPr>
          <p:cNvPr id="12" name="TextBox 11"/>
          <p:cNvSpPr txBox="1"/>
          <p:nvPr/>
        </p:nvSpPr>
        <p:spPr>
          <a:xfrm>
            <a:off x="2057400" y="5614416"/>
            <a:ext cx="8869680" cy="307777"/>
          </a:xfrm>
          <a:prstGeom prst="rect">
            <a:avLst/>
          </a:prstGeom>
          <a:noFill/>
        </p:spPr>
        <p:txBody>
          <a:bodyPr wrap="square" anchor="t">
            <a:spAutoFit/>
          </a:bodyPr>
          <a:lstStyle/>
          <a:p>
            <a:pPr algn="l"/>
            <a:r>
              <a:rPr lang="en-US" sz="1400" b="0" dirty="0">
                <a:solidFill>
                  <a:srgbClr val="373C44"/>
                </a:solidFill>
                <a:latin typeface="Aptos"/>
              </a:rPr>
              <a:t>33</a:t>
            </a:r>
            <a:r>
              <a:rPr sz="1400" b="0" dirty="0">
                <a:solidFill>
                  <a:srgbClr val="373C44"/>
                </a:solidFill>
                <a:latin typeface="Aptos"/>
              </a:rPr>
              <a:t> realistic developer questions compare ranking before LLM reranking with final reranked ranking.</a:t>
            </a:r>
          </a:p>
        </p:txBody>
      </p:sp>
      <p:sp>
        <p:nvSpPr>
          <p:cNvPr id="13" name="TextBox 12"/>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Target Repository &amp; Use Case</a:t>
            </a:r>
          </a:p>
        </p:txBody>
      </p:sp>
      <p:sp>
        <p:nvSpPr>
          <p:cNvPr id="3" name="Rectangle 2"/>
          <p:cNvSpPr/>
          <p:nvPr/>
        </p:nvSpPr>
        <p:spPr>
          <a:xfrm>
            <a:off x="640080" y="932688"/>
            <a:ext cx="868680" cy="32004"/>
          </a:xfrm>
          <a:prstGeom prst="rect">
            <a:avLst/>
          </a:prstGeom>
          <a:solidFill>
            <a:srgbClr val="5F67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1417320"/>
            <a:ext cx="4800600" cy="448056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783080"/>
            <a:ext cx="4114800" cy="274320"/>
          </a:xfrm>
          <a:prstGeom prst="rect">
            <a:avLst/>
          </a:prstGeom>
          <a:noFill/>
        </p:spPr>
        <p:txBody>
          <a:bodyPr wrap="square" anchor="t">
            <a:spAutoFit/>
          </a:bodyPr>
          <a:lstStyle/>
          <a:p>
            <a:pPr algn="l"/>
            <a:r>
              <a:rPr sz="1300" b="1">
                <a:solidFill>
                  <a:srgbClr val="1C1E22"/>
                </a:solidFill>
                <a:latin typeface="Aptos"/>
              </a:rPr>
              <a:t>TARGET REPOSITORY</a:t>
            </a:r>
          </a:p>
        </p:txBody>
      </p:sp>
      <p:sp>
        <p:nvSpPr>
          <p:cNvPr id="6" name="TextBox 5"/>
          <p:cNvSpPr txBox="1"/>
          <p:nvPr/>
        </p:nvSpPr>
        <p:spPr>
          <a:xfrm>
            <a:off x="1005840" y="2212848"/>
            <a:ext cx="3840480" cy="502920"/>
          </a:xfrm>
          <a:prstGeom prst="rect">
            <a:avLst/>
          </a:prstGeom>
          <a:noFill/>
        </p:spPr>
        <p:txBody>
          <a:bodyPr wrap="square" anchor="t">
            <a:spAutoFit/>
          </a:bodyPr>
          <a:lstStyle/>
          <a:p>
            <a:pPr algn="l"/>
            <a:r>
              <a:rPr sz="2800" b="1">
                <a:solidFill>
                  <a:srgbClr val="1C1E22"/>
                </a:solidFill>
                <a:latin typeface="Aptos"/>
              </a:rPr>
              <a:t>Ushahidi</a:t>
            </a:r>
          </a:p>
        </p:txBody>
      </p:sp>
      <p:sp>
        <p:nvSpPr>
          <p:cNvPr id="7" name="TextBox 6"/>
          <p:cNvSpPr txBox="1"/>
          <p:nvPr/>
        </p:nvSpPr>
        <p:spPr>
          <a:xfrm>
            <a:off x="1005840" y="2880360"/>
            <a:ext cx="3977639" cy="914400"/>
          </a:xfrm>
          <a:prstGeom prst="rect">
            <a:avLst/>
          </a:prstGeom>
          <a:noFill/>
        </p:spPr>
        <p:txBody>
          <a:bodyPr wrap="square" anchor="t">
            <a:spAutoFit/>
          </a:bodyPr>
          <a:lstStyle/>
          <a:p>
            <a:pPr algn="l"/>
            <a:r>
              <a:rPr sz="1700" b="0">
                <a:solidFill>
                  <a:srgbClr val="373C44"/>
                </a:solidFill>
                <a:latin typeface="Aptos"/>
              </a:rPr>
              <a:t>Open-source crisis-mapping platform used in disaster-response contexts.</a:t>
            </a:r>
          </a:p>
        </p:txBody>
      </p:sp>
      <p:sp>
        <p:nvSpPr>
          <p:cNvPr id="8" name="TextBox 7"/>
          <p:cNvSpPr txBox="1"/>
          <p:nvPr/>
        </p:nvSpPr>
        <p:spPr>
          <a:xfrm>
            <a:off x="1005840" y="4160520"/>
            <a:ext cx="2926080" cy="274320"/>
          </a:xfrm>
          <a:prstGeom prst="rect">
            <a:avLst/>
          </a:prstGeom>
          <a:noFill/>
        </p:spPr>
        <p:txBody>
          <a:bodyPr wrap="square" anchor="t">
            <a:spAutoFit/>
          </a:bodyPr>
          <a:lstStyle/>
          <a:p>
            <a:pPr algn="l"/>
            <a:r>
              <a:rPr sz="1300" b="1">
                <a:solidFill>
                  <a:srgbClr val="69707A"/>
                </a:solidFill>
                <a:latin typeface="Aptos"/>
              </a:rPr>
              <a:t>Primary challenge</a:t>
            </a:r>
          </a:p>
        </p:txBody>
      </p:sp>
      <p:sp>
        <p:nvSpPr>
          <p:cNvPr id="9" name="TextBox 8"/>
          <p:cNvSpPr txBox="1"/>
          <p:nvPr/>
        </p:nvSpPr>
        <p:spPr>
          <a:xfrm>
            <a:off x="1005840" y="4498848"/>
            <a:ext cx="3840480" cy="685800"/>
          </a:xfrm>
          <a:prstGeom prst="rect">
            <a:avLst/>
          </a:prstGeom>
          <a:noFill/>
        </p:spPr>
        <p:txBody>
          <a:bodyPr wrap="square" anchor="t">
            <a:spAutoFit/>
          </a:bodyPr>
          <a:lstStyle/>
          <a:p>
            <a:pPr algn="l"/>
            <a:r>
              <a:rPr sz="1600" b="0">
                <a:solidFill>
                  <a:srgbClr val="1C1E22"/>
                </a:solidFill>
                <a:latin typeface="Aptos"/>
              </a:rPr>
              <a:t>Complex PHP classes, methods, controllers and relationships.</a:t>
            </a:r>
          </a:p>
        </p:txBody>
      </p:sp>
      <p:sp>
        <p:nvSpPr>
          <p:cNvPr id="10" name="Rounded Rectangle 9"/>
          <p:cNvSpPr/>
          <p:nvPr/>
        </p:nvSpPr>
        <p:spPr>
          <a:xfrm>
            <a:off x="5806440" y="1417320"/>
            <a:ext cx="5623560" cy="448056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1783080"/>
            <a:ext cx="4114800" cy="274320"/>
          </a:xfrm>
          <a:prstGeom prst="rect">
            <a:avLst/>
          </a:prstGeom>
          <a:noFill/>
        </p:spPr>
        <p:txBody>
          <a:bodyPr wrap="square" anchor="t">
            <a:spAutoFit/>
          </a:bodyPr>
          <a:lstStyle/>
          <a:p>
            <a:pPr algn="l"/>
            <a:r>
              <a:rPr sz="1300" b="1">
                <a:solidFill>
                  <a:srgbClr val="1C1E22"/>
                </a:solidFill>
                <a:latin typeface="Aptos"/>
              </a:rPr>
              <a:t>USE CASE</a:t>
            </a:r>
          </a:p>
        </p:txBody>
      </p:sp>
      <p:sp>
        <p:nvSpPr>
          <p:cNvPr id="12" name="TextBox 11"/>
          <p:cNvSpPr txBox="1"/>
          <p:nvPr/>
        </p:nvSpPr>
        <p:spPr>
          <a:xfrm>
            <a:off x="6172200" y="2240280"/>
            <a:ext cx="1828800" cy="274320"/>
          </a:xfrm>
          <a:prstGeom prst="rect">
            <a:avLst/>
          </a:prstGeom>
          <a:noFill/>
        </p:spPr>
        <p:txBody>
          <a:bodyPr wrap="square" anchor="t">
            <a:spAutoFit/>
          </a:bodyPr>
          <a:lstStyle/>
          <a:p>
            <a:pPr algn="l"/>
            <a:r>
              <a:rPr sz="1400" b="1">
                <a:solidFill>
                  <a:srgbClr val="69707A"/>
                </a:solidFill>
                <a:latin typeface="Aptos"/>
              </a:rPr>
              <a:t>Developer asks:</a:t>
            </a:r>
          </a:p>
        </p:txBody>
      </p:sp>
      <p:sp>
        <p:nvSpPr>
          <p:cNvPr id="13" name="TextBox 12"/>
          <p:cNvSpPr txBox="1"/>
          <p:nvPr/>
        </p:nvSpPr>
        <p:spPr>
          <a:xfrm>
            <a:off x="6172200" y="2606040"/>
            <a:ext cx="4572000" cy="502920"/>
          </a:xfrm>
          <a:prstGeom prst="rect">
            <a:avLst/>
          </a:prstGeom>
          <a:noFill/>
        </p:spPr>
        <p:txBody>
          <a:bodyPr wrap="square" anchor="t">
            <a:spAutoFit/>
          </a:bodyPr>
          <a:lstStyle/>
          <a:p>
            <a:pPr algn="l"/>
            <a:r>
              <a:rPr sz="2000" b="1">
                <a:solidFill>
                  <a:srgbClr val="1C1E22"/>
                </a:solidFill>
                <a:latin typeface="Aptos"/>
              </a:rPr>
              <a:t>“How does the LanguagesController work?”</a:t>
            </a:r>
          </a:p>
        </p:txBody>
      </p:sp>
      <p:cxnSp>
        <p:nvCxnSpPr>
          <p:cNvPr id="14" name="Connector 13"/>
          <p:cNvCxnSpPr/>
          <p:nvPr/>
        </p:nvCxnSpPr>
        <p:spPr>
          <a:xfrm>
            <a:off x="8183879" y="3246120"/>
            <a:ext cx="0" cy="45720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72200" y="3822191"/>
            <a:ext cx="4572000" cy="1005840"/>
          </a:xfrm>
          <a:prstGeom prst="rect">
            <a:avLst/>
          </a:prstGeom>
          <a:noFill/>
        </p:spPr>
        <p:txBody>
          <a:bodyPr wrap="square" anchor="t">
            <a:spAutoFit/>
          </a:bodyPr>
          <a:lstStyle/>
          <a:p>
            <a:pPr algn="l"/>
            <a:r>
              <a:rPr sz="1700" b="0">
                <a:solidFill>
                  <a:srgbClr val="373C44"/>
                </a:solidFill>
                <a:latin typeface="Aptos"/>
              </a:rPr>
              <a:t>AI retrieves relevant code → explains it → shows evidence → draws a diagram</a:t>
            </a:r>
          </a:p>
        </p:txBody>
      </p:sp>
      <p:sp>
        <p:nvSpPr>
          <p:cNvPr id="16" name="TextBox 15"/>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Technology Stack</a:t>
            </a:r>
          </a:p>
        </p:txBody>
      </p:sp>
      <p:sp>
        <p:nvSpPr>
          <p:cNvPr id="3" name="Rectangle 2"/>
          <p:cNvSpPr/>
          <p:nvPr/>
        </p:nvSpPr>
        <p:spPr>
          <a:xfrm>
            <a:off x="640080" y="932688"/>
            <a:ext cx="868680" cy="32004"/>
          </a:xfrm>
          <a:prstGeom prst="rect">
            <a:avLst/>
          </a:prstGeom>
          <a:solidFill>
            <a:srgbClr val="84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33271"/>
            <a:ext cx="10881360" cy="320040"/>
          </a:xfrm>
          <a:prstGeom prst="rect">
            <a:avLst/>
          </a:prstGeom>
          <a:noFill/>
        </p:spPr>
        <p:txBody>
          <a:bodyPr wrap="square" anchor="t">
            <a:spAutoFit/>
          </a:bodyPr>
          <a:lstStyle/>
          <a:p>
            <a:pPr algn="l"/>
            <a:r>
              <a:rPr sz="1250" b="0">
                <a:solidFill>
                  <a:srgbClr val="69707A"/>
                </a:solidFill>
                <a:latin typeface="Aptos"/>
              </a:rPr>
              <a:t>What each technology does in the project</a:t>
            </a:r>
          </a:p>
        </p:txBody>
      </p:sp>
      <p:sp>
        <p:nvSpPr>
          <p:cNvPr id="5" name="Rounded Rectangle 4"/>
          <p:cNvSpPr/>
          <p:nvPr/>
        </p:nvSpPr>
        <p:spPr>
          <a:xfrm>
            <a:off x="594360" y="1417320"/>
            <a:ext cx="2697480" cy="4526280"/>
          </a:xfrm>
          <a:prstGeom prst="roundRect">
            <a:avLst>
              <a:gd name="adj" fmla="val 8000"/>
            </a:avLst>
          </a:prstGeom>
          <a:solidFill>
            <a:srgbClr val="FFFFFF"/>
          </a:solidFill>
          <a:ln w="22860">
            <a:solidFill>
              <a:srgbClr val="E06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777240" y="1618488"/>
            <a:ext cx="2331720" cy="276999"/>
          </a:xfrm>
          <a:prstGeom prst="rect">
            <a:avLst/>
          </a:prstGeom>
          <a:noFill/>
        </p:spPr>
        <p:txBody>
          <a:bodyPr wrap="square" anchor="t">
            <a:spAutoFit/>
          </a:bodyPr>
          <a:lstStyle/>
          <a:p>
            <a:pPr algn="l"/>
            <a:r>
              <a:rPr sz="1200" b="1">
                <a:solidFill>
                  <a:srgbClr val="E06953"/>
                </a:solidFill>
                <a:latin typeface="Aptos"/>
              </a:rPr>
              <a:t>BACKEND &amp; API</a:t>
            </a:r>
          </a:p>
        </p:txBody>
      </p:sp>
      <p:sp>
        <p:nvSpPr>
          <p:cNvPr id="7" name="TextBox 6"/>
          <p:cNvSpPr txBox="1"/>
          <p:nvPr/>
        </p:nvSpPr>
        <p:spPr>
          <a:xfrm>
            <a:off x="777240" y="2084832"/>
            <a:ext cx="2331720" cy="276999"/>
          </a:xfrm>
          <a:prstGeom prst="rect">
            <a:avLst/>
          </a:prstGeom>
          <a:noFill/>
        </p:spPr>
        <p:txBody>
          <a:bodyPr wrap="square" anchor="t">
            <a:spAutoFit/>
          </a:bodyPr>
          <a:lstStyle/>
          <a:p>
            <a:pPr algn="l"/>
            <a:r>
              <a:rPr sz="1200" b="1">
                <a:solidFill>
                  <a:srgbClr val="1C1E22"/>
                </a:solidFill>
                <a:latin typeface="Aptos"/>
              </a:rPr>
              <a:t>Python 3.11</a:t>
            </a:r>
          </a:p>
        </p:txBody>
      </p:sp>
      <p:sp>
        <p:nvSpPr>
          <p:cNvPr id="8" name="TextBox 7"/>
          <p:cNvSpPr txBox="1"/>
          <p:nvPr/>
        </p:nvSpPr>
        <p:spPr>
          <a:xfrm>
            <a:off x="777240" y="2313432"/>
            <a:ext cx="2331720" cy="461665"/>
          </a:xfrm>
          <a:prstGeom prst="rect">
            <a:avLst/>
          </a:prstGeom>
          <a:noFill/>
        </p:spPr>
        <p:txBody>
          <a:bodyPr wrap="square" anchor="t">
            <a:spAutoFit/>
          </a:bodyPr>
          <a:lstStyle/>
          <a:p>
            <a:pPr algn="l"/>
            <a:r>
              <a:rPr sz="1200" b="0">
                <a:solidFill>
                  <a:srgbClr val="373C44"/>
                </a:solidFill>
                <a:latin typeface="Aptos"/>
              </a:rPr>
              <a:t>Core backend language and project logic.</a:t>
            </a:r>
          </a:p>
        </p:txBody>
      </p:sp>
      <p:sp>
        <p:nvSpPr>
          <p:cNvPr id="9" name="TextBox 8"/>
          <p:cNvSpPr txBox="1"/>
          <p:nvPr/>
        </p:nvSpPr>
        <p:spPr>
          <a:xfrm>
            <a:off x="777240" y="2834640"/>
            <a:ext cx="2331720" cy="276999"/>
          </a:xfrm>
          <a:prstGeom prst="rect">
            <a:avLst/>
          </a:prstGeom>
          <a:noFill/>
        </p:spPr>
        <p:txBody>
          <a:bodyPr wrap="square" anchor="t">
            <a:spAutoFit/>
          </a:bodyPr>
          <a:lstStyle/>
          <a:p>
            <a:pPr algn="l"/>
            <a:r>
              <a:rPr sz="1200" b="1">
                <a:solidFill>
                  <a:srgbClr val="1C1E22"/>
                </a:solidFill>
                <a:latin typeface="Aptos"/>
              </a:rPr>
              <a:t>FastAPI</a:t>
            </a:r>
          </a:p>
        </p:txBody>
      </p:sp>
      <p:sp>
        <p:nvSpPr>
          <p:cNvPr id="10" name="TextBox 9"/>
          <p:cNvSpPr txBox="1"/>
          <p:nvPr/>
        </p:nvSpPr>
        <p:spPr>
          <a:xfrm>
            <a:off x="777240" y="3063240"/>
            <a:ext cx="2331720" cy="461665"/>
          </a:xfrm>
          <a:prstGeom prst="rect">
            <a:avLst/>
          </a:prstGeom>
          <a:noFill/>
        </p:spPr>
        <p:txBody>
          <a:bodyPr wrap="square" anchor="t">
            <a:spAutoFit/>
          </a:bodyPr>
          <a:lstStyle/>
          <a:p>
            <a:pPr algn="l"/>
            <a:r>
              <a:rPr sz="1200" b="0">
                <a:solidFill>
                  <a:srgbClr val="373C44"/>
                </a:solidFill>
                <a:latin typeface="Aptos"/>
              </a:rPr>
              <a:t>Exposes /api/ask and connects UI to the AI pipeline.</a:t>
            </a:r>
          </a:p>
        </p:txBody>
      </p:sp>
      <p:sp>
        <p:nvSpPr>
          <p:cNvPr id="11" name="TextBox 10"/>
          <p:cNvSpPr txBox="1"/>
          <p:nvPr/>
        </p:nvSpPr>
        <p:spPr>
          <a:xfrm>
            <a:off x="777240" y="3584448"/>
            <a:ext cx="2331720" cy="276999"/>
          </a:xfrm>
          <a:prstGeom prst="rect">
            <a:avLst/>
          </a:prstGeom>
          <a:noFill/>
        </p:spPr>
        <p:txBody>
          <a:bodyPr wrap="square" anchor="t">
            <a:spAutoFit/>
          </a:bodyPr>
          <a:lstStyle/>
          <a:p>
            <a:pPr algn="l"/>
            <a:r>
              <a:rPr sz="1200" b="1">
                <a:solidFill>
                  <a:srgbClr val="1C1E22"/>
                </a:solidFill>
                <a:latin typeface="Aptos"/>
              </a:rPr>
              <a:t>Uvicorn</a:t>
            </a:r>
          </a:p>
        </p:txBody>
      </p:sp>
      <p:sp>
        <p:nvSpPr>
          <p:cNvPr id="12" name="TextBox 11"/>
          <p:cNvSpPr txBox="1"/>
          <p:nvPr/>
        </p:nvSpPr>
        <p:spPr>
          <a:xfrm>
            <a:off x="777240" y="3813048"/>
            <a:ext cx="2331720" cy="461665"/>
          </a:xfrm>
          <a:prstGeom prst="rect">
            <a:avLst/>
          </a:prstGeom>
          <a:noFill/>
        </p:spPr>
        <p:txBody>
          <a:bodyPr wrap="square" anchor="t">
            <a:spAutoFit/>
          </a:bodyPr>
          <a:lstStyle/>
          <a:p>
            <a:pPr algn="l"/>
            <a:r>
              <a:rPr sz="1200" b="0">
                <a:solidFill>
                  <a:srgbClr val="373C44"/>
                </a:solidFill>
                <a:latin typeface="Aptos"/>
              </a:rPr>
              <a:t>Runs the FastAPI application server.</a:t>
            </a:r>
          </a:p>
        </p:txBody>
      </p:sp>
      <p:sp>
        <p:nvSpPr>
          <p:cNvPr id="13" name="Rounded Rectangle 12"/>
          <p:cNvSpPr/>
          <p:nvPr/>
        </p:nvSpPr>
        <p:spPr>
          <a:xfrm>
            <a:off x="3429000" y="1417320"/>
            <a:ext cx="2697480" cy="4526280"/>
          </a:xfrm>
          <a:prstGeom prst="roundRect">
            <a:avLst>
              <a:gd name="adj" fmla="val 8000"/>
            </a:avLst>
          </a:prstGeom>
          <a:solidFill>
            <a:srgbClr val="FFFFFF"/>
          </a:solidFill>
          <a:ln w="22860">
            <a:solidFill>
              <a:srgbClr val="2A9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3611880" y="1618488"/>
            <a:ext cx="2331720" cy="276999"/>
          </a:xfrm>
          <a:prstGeom prst="rect">
            <a:avLst/>
          </a:prstGeom>
          <a:noFill/>
        </p:spPr>
        <p:txBody>
          <a:bodyPr wrap="square" anchor="t">
            <a:spAutoFit/>
          </a:bodyPr>
          <a:lstStyle/>
          <a:p>
            <a:pPr algn="l"/>
            <a:r>
              <a:rPr sz="1200" b="1">
                <a:solidFill>
                  <a:srgbClr val="2A9184"/>
                </a:solidFill>
                <a:latin typeface="Aptos"/>
              </a:rPr>
              <a:t>RAG &amp; RETRIEVAL</a:t>
            </a:r>
          </a:p>
        </p:txBody>
      </p:sp>
      <p:sp>
        <p:nvSpPr>
          <p:cNvPr id="15" name="TextBox 14"/>
          <p:cNvSpPr txBox="1"/>
          <p:nvPr/>
        </p:nvSpPr>
        <p:spPr>
          <a:xfrm>
            <a:off x="3611880" y="2084832"/>
            <a:ext cx="2331720" cy="276999"/>
          </a:xfrm>
          <a:prstGeom prst="rect">
            <a:avLst/>
          </a:prstGeom>
          <a:noFill/>
        </p:spPr>
        <p:txBody>
          <a:bodyPr wrap="square" anchor="t">
            <a:spAutoFit/>
          </a:bodyPr>
          <a:lstStyle/>
          <a:p>
            <a:pPr algn="l"/>
            <a:r>
              <a:rPr sz="1200" b="1">
                <a:solidFill>
                  <a:srgbClr val="1C1E22"/>
                </a:solidFill>
                <a:latin typeface="Aptos"/>
              </a:rPr>
              <a:t>Tree-sitter</a:t>
            </a:r>
          </a:p>
        </p:txBody>
      </p:sp>
      <p:sp>
        <p:nvSpPr>
          <p:cNvPr id="16" name="TextBox 15"/>
          <p:cNvSpPr txBox="1"/>
          <p:nvPr/>
        </p:nvSpPr>
        <p:spPr>
          <a:xfrm>
            <a:off x="3611880" y="2313432"/>
            <a:ext cx="2331720" cy="461665"/>
          </a:xfrm>
          <a:prstGeom prst="rect">
            <a:avLst/>
          </a:prstGeom>
          <a:noFill/>
        </p:spPr>
        <p:txBody>
          <a:bodyPr wrap="square" anchor="t">
            <a:spAutoFit/>
          </a:bodyPr>
          <a:lstStyle/>
          <a:p>
            <a:pPr algn="l"/>
            <a:r>
              <a:rPr sz="1200" b="0">
                <a:solidFill>
                  <a:srgbClr val="373C44"/>
                </a:solidFill>
                <a:latin typeface="Aptos"/>
              </a:rPr>
              <a:t>Parses PHP into AST-based logical code units.</a:t>
            </a:r>
          </a:p>
        </p:txBody>
      </p:sp>
      <p:sp>
        <p:nvSpPr>
          <p:cNvPr id="17" name="TextBox 16"/>
          <p:cNvSpPr txBox="1"/>
          <p:nvPr/>
        </p:nvSpPr>
        <p:spPr>
          <a:xfrm>
            <a:off x="3611880" y="2834640"/>
            <a:ext cx="2331720" cy="276999"/>
          </a:xfrm>
          <a:prstGeom prst="rect">
            <a:avLst/>
          </a:prstGeom>
          <a:noFill/>
        </p:spPr>
        <p:txBody>
          <a:bodyPr wrap="square" anchor="t">
            <a:spAutoFit/>
          </a:bodyPr>
          <a:lstStyle/>
          <a:p>
            <a:pPr algn="l"/>
            <a:r>
              <a:rPr sz="1200" b="1">
                <a:solidFill>
                  <a:srgbClr val="1C1E22"/>
                </a:solidFill>
                <a:latin typeface="Aptos"/>
              </a:rPr>
              <a:t>SentenceTransformers</a:t>
            </a:r>
          </a:p>
        </p:txBody>
      </p:sp>
      <p:sp>
        <p:nvSpPr>
          <p:cNvPr id="18" name="TextBox 17"/>
          <p:cNvSpPr txBox="1"/>
          <p:nvPr/>
        </p:nvSpPr>
        <p:spPr>
          <a:xfrm>
            <a:off x="3611880" y="3063240"/>
            <a:ext cx="2331720" cy="461665"/>
          </a:xfrm>
          <a:prstGeom prst="rect">
            <a:avLst/>
          </a:prstGeom>
          <a:noFill/>
        </p:spPr>
        <p:txBody>
          <a:bodyPr wrap="square" anchor="t">
            <a:spAutoFit/>
          </a:bodyPr>
          <a:lstStyle/>
          <a:p>
            <a:pPr algn="l"/>
            <a:r>
              <a:rPr sz="1200" b="0">
                <a:solidFill>
                  <a:srgbClr val="373C44"/>
                </a:solidFill>
                <a:latin typeface="Aptos"/>
              </a:rPr>
              <a:t>Creates semantic embeddings for code and queries.</a:t>
            </a:r>
          </a:p>
        </p:txBody>
      </p:sp>
      <p:sp>
        <p:nvSpPr>
          <p:cNvPr id="19" name="TextBox 18"/>
          <p:cNvSpPr txBox="1"/>
          <p:nvPr/>
        </p:nvSpPr>
        <p:spPr>
          <a:xfrm>
            <a:off x="3611880" y="3584448"/>
            <a:ext cx="2331720" cy="276999"/>
          </a:xfrm>
          <a:prstGeom prst="rect">
            <a:avLst/>
          </a:prstGeom>
          <a:noFill/>
        </p:spPr>
        <p:txBody>
          <a:bodyPr wrap="square" anchor="t">
            <a:spAutoFit/>
          </a:bodyPr>
          <a:lstStyle/>
          <a:p>
            <a:pPr algn="l"/>
            <a:r>
              <a:rPr sz="1200" b="1">
                <a:solidFill>
                  <a:srgbClr val="1C1E22"/>
                </a:solidFill>
                <a:latin typeface="Aptos"/>
              </a:rPr>
              <a:t>BGE-base-en-v1.5</a:t>
            </a:r>
          </a:p>
        </p:txBody>
      </p:sp>
      <p:sp>
        <p:nvSpPr>
          <p:cNvPr id="20" name="TextBox 19"/>
          <p:cNvSpPr txBox="1"/>
          <p:nvPr/>
        </p:nvSpPr>
        <p:spPr>
          <a:xfrm>
            <a:off x="3611880" y="3813048"/>
            <a:ext cx="2331720" cy="461665"/>
          </a:xfrm>
          <a:prstGeom prst="rect">
            <a:avLst/>
          </a:prstGeom>
          <a:noFill/>
        </p:spPr>
        <p:txBody>
          <a:bodyPr wrap="square" anchor="t">
            <a:spAutoFit/>
          </a:bodyPr>
          <a:lstStyle/>
          <a:p>
            <a:pPr algn="l"/>
            <a:r>
              <a:rPr sz="1200" b="0">
                <a:solidFill>
                  <a:srgbClr val="373C44"/>
                </a:solidFill>
                <a:latin typeface="Aptos"/>
              </a:rPr>
              <a:t>Embedding model used for semantic retrieval.</a:t>
            </a:r>
          </a:p>
        </p:txBody>
      </p:sp>
      <p:sp>
        <p:nvSpPr>
          <p:cNvPr id="21" name="TextBox 20"/>
          <p:cNvSpPr txBox="1"/>
          <p:nvPr/>
        </p:nvSpPr>
        <p:spPr>
          <a:xfrm>
            <a:off x="3611880" y="4334256"/>
            <a:ext cx="2331720" cy="276999"/>
          </a:xfrm>
          <a:prstGeom prst="rect">
            <a:avLst/>
          </a:prstGeom>
          <a:noFill/>
        </p:spPr>
        <p:txBody>
          <a:bodyPr wrap="square" anchor="t">
            <a:spAutoFit/>
          </a:bodyPr>
          <a:lstStyle/>
          <a:p>
            <a:pPr algn="l"/>
            <a:r>
              <a:rPr sz="1200" b="1">
                <a:solidFill>
                  <a:srgbClr val="1C1E22"/>
                </a:solidFill>
                <a:latin typeface="Aptos"/>
              </a:rPr>
              <a:t>ChromaDB</a:t>
            </a:r>
          </a:p>
        </p:txBody>
      </p:sp>
      <p:sp>
        <p:nvSpPr>
          <p:cNvPr id="22" name="TextBox 21"/>
          <p:cNvSpPr txBox="1"/>
          <p:nvPr/>
        </p:nvSpPr>
        <p:spPr>
          <a:xfrm>
            <a:off x="3611880" y="4562856"/>
            <a:ext cx="2331720" cy="461665"/>
          </a:xfrm>
          <a:prstGeom prst="rect">
            <a:avLst/>
          </a:prstGeom>
          <a:noFill/>
        </p:spPr>
        <p:txBody>
          <a:bodyPr wrap="square" anchor="t">
            <a:spAutoFit/>
          </a:bodyPr>
          <a:lstStyle/>
          <a:p>
            <a:pPr algn="l"/>
            <a:r>
              <a:rPr sz="1200" b="0">
                <a:solidFill>
                  <a:srgbClr val="373C44"/>
                </a:solidFill>
                <a:latin typeface="Aptos"/>
              </a:rPr>
              <a:t>Stores vectors, source code and metadata for search.</a:t>
            </a:r>
          </a:p>
        </p:txBody>
      </p:sp>
      <p:sp>
        <p:nvSpPr>
          <p:cNvPr id="23" name="Rounded Rectangle 22"/>
          <p:cNvSpPr/>
          <p:nvPr/>
        </p:nvSpPr>
        <p:spPr>
          <a:xfrm>
            <a:off x="6263640" y="1417320"/>
            <a:ext cx="2697480" cy="4526280"/>
          </a:xfrm>
          <a:prstGeom prst="roundRect">
            <a:avLst>
              <a:gd name="adj" fmla="val 8000"/>
            </a:avLst>
          </a:prstGeom>
          <a:solidFill>
            <a:srgbClr val="FFFFFF"/>
          </a:solidFill>
          <a:ln w="22860">
            <a:solidFill>
              <a:srgbClr val="845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6446520" y="1618488"/>
            <a:ext cx="2331720" cy="276999"/>
          </a:xfrm>
          <a:prstGeom prst="rect">
            <a:avLst/>
          </a:prstGeom>
          <a:noFill/>
        </p:spPr>
        <p:txBody>
          <a:bodyPr wrap="square" anchor="t">
            <a:spAutoFit/>
          </a:bodyPr>
          <a:lstStyle/>
          <a:p>
            <a:pPr algn="l"/>
            <a:r>
              <a:rPr sz="1200" b="1">
                <a:solidFill>
                  <a:srgbClr val="845BAB"/>
                </a:solidFill>
                <a:latin typeface="Aptos"/>
              </a:rPr>
              <a:t>LLM &amp; GENERATION</a:t>
            </a:r>
          </a:p>
        </p:txBody>
      </p:sp>
      <p:sp>
        <p:nvSpPr>
          <p:cNvPr id="25" name="TextBox 24"/>
          <p:cNvSpPr txBox="1"/>
          <p:nvPr/>
        </p:nvSpPr>
        <p:spPr>
          <a:xfrm>
            <a:off x="6446520" y="2084832"/>
            <a:ext cx="2331720" cy="276999"/>
          </a:xfrm>
          <a:prstGeom prst="rect">
            <a:avLst/>
          </a:prstGeom>
          <a:noFill/>
        </p:spPr>
        <p:txBody>
          <a:bodyPr wrap="square" anchor="t">
            <a:spAutoFit/>
          </a:bodyPr>
          <a:lstStyle/>
          <a:p>
            <a:pPr algn="l"/>
            <a:r>
              <a:rPr sz="1200" b="1">
                <a:solidFill>
                  <a:srgbClr val="1C1E22"/>
                </a:solidFill>
                <a:latin typeface="Aptos"/>
              </a:rPr>
              <a:t>LangChain</a:t>
            </a:r>
          </a:p>
        </p:txBody>
      </p:sp>
      <p:sp>
        <p:nvSpPr>
          <p:cNvPr id="26" name="TextBox 25"/>
          <p:cNvSpPr txBox="1"/>
          <p:nvPr/>
        </p:nvSpPr>
        <p:spPr>
          <a:xfrm>
            <a:off x="6446520" y="2313432"/>
            <a:ext cx="2331720" cy="461665"/>
          </a:xfrm>
          <a:prstGeom prst="rect">
            <a:avLst/>
          </a:prstGeom>
          <a:noFill/>
        </p:spPr>
        <p:txBody>
          <a:bodyPr wrap="square" anchor="t">
            <a:spAutoFit/>
          </a:bodyPr>
          <a:lstStyle/>
          <a:p>
            <a:pPr algn="l"/>
            <a:r>
              <a:rPr sz="1200" b="0">
                <a:solidFill>
                  <a:srgbClr val="373C44"/>
                </a:solidFill>
                <a:latin typeface="Aptos"/>
              </a:rPr>
              <a:t>Orchestrates prompts, retrieved context and LLM calls.</a:t>
            </a:r>
          </a:p>
        </p:txBody>
      </p:sp>
      <p:sp>
        <p:nvSpPr>
          <p:cNvPr id="27" name="TextBox 26"/>
          <p:cNvSpPr txBox="1"/>
          <p:nvPr/>
        </p:nvSpPr>
        <p:spPr>
          <a:xfrm>
            <a:off x="6446520" y="2834640"/>
            <a:ext cx="2331720" cy="276999"/>
          </a:xfrm>
          <a:prstGeom prst="rect">
            <a:avLst/>
          </a:prstGeom>
          <a:noFill/>
        </p:spPr>
        <p:txBody>
          <a:bodyPr wrap="square" anchor="t">
            <a:spAutoFit/>
          </a:bodyPr>
          <a:lstStyle/>
          <a:p>
            <a:pPr algn="l"/>
            <a:r>
              <a:rPr sz="1200" b="1">
                <a:solidFill>
                  <a:srgbClr val="1C1E22"/>
                </a:solidFill>
                <a:latin typeface="Aptos"/>
              </a:rPr>
              <a:t>Groq</a:t>
            </a:r>
          </a:p>
        </p:txBody>
      </p:sp>
      <p:sp>
        <p:nvSpPr>
          <p:cNvPr id="28" name="TextBox 27"/>
          <p:cNvSpPr txBox="1"/>
          <p:nvPr/>
        </p:nvSpPr>
        <p:spPr>
          <a:xfrm>
            <a:off x="6446520" y="3063240"/>
            <a:ext cx="2331720" cy="461665"/>
          </a:xfrm>
          <a:prstGeom prst="rect">
            <a:avLst/>
          </a:prstGeom>
          <a:noFill/>
        </p:spPr>
        <p:txBody>
          <a:bodyPr wrap="square" anchor="t">
            <a:spAutoFit/>
          </a:bodyPr>
          <a:lstStyle/>
          <a:p>
            <a:pPr algn="l"/>
            <a:r>
              <a:rPr sz="1200" b="0">
                <a:solidFill>
                  <a:srgbClr val="373C44"/>
                </a:solidFill>
                <a:latin typeface="Aptos"/>
              </a:rPr>
              <a:t>Provides fast LLM inference through its API.</a:t>
            </a:r>
          </a:p>
        </p:txBody>
      </p:sp>
      <p:sp>
        <p:nvSpPr>
          <p:cNvPr id="29" name="TextBox 28"/>
          <p:cNvSpPr txBox="1"/>
          <p:nvPr/>
        </p:nvSpPr>
        <p:spPr>
          <a:xfrm>
            <a:off x="6446520" y="3584448"/>
            <a:ext cx="2331720" cy="276999"/>
          </a:xfrm>
          <a:prstGeom prst="rect">
            <a:avLst/>
          </a:prstGeom>
          <a:noFill/>
        </p:spPr>
        <p:txBody>
          <a:bodyPr wrap="square" anchor="t">
            <a:spAutoFit/>
          </a:bodyPr>
          <a:lstStyle/>
          <a:p>
            <a:pPr algn="l"/>
            <a:r>
              <a:rPr sz="1200" b="1">
                <a:solidFill>
                  <a:srgbClr val="1C1E22"/>
                </a:solidFill>
                <a:latin typeface="Aptos"/>
              </a:rPr>
              <a:t>Qwen</a:t>
            </a:r>
          </a:p>
        </p:txBody>
      </p:sp>
      <p:sp>
        <p:nvSpPr>
          <p:cNvPr id="30" name="TextBox 29"/>
          <p:cNvSpPr txBox="1"/>
          <p:nvPr/>
        </p:nvSpPr>
        <p:spPr>
          <a:xfrm>
            <a:off x="6446520" y="3813048"/>
            <a:ext cx="2331720" cy="461665"/>
          </a:xfrm>
          <a:prstGeom prst="rect">
            <a:avLst/>
          </a:prstGeom>
          <a:noFill/>
        </p:spPr>
        <p:txBody>
          <a:bodyPr wrap="square" anchor="t">
            <a:spAutoFit/>
          </a:bodyPr>
          <a:lstStyle/>
          <a:p>
            <a:pPr algn="l"/>
            <a:r>
              <a:rPr sz="1200" b="0">
                <a:solidFill>
                  <a:srgbClr val="373C44"/>
                </a:solidFill>
                <a:latin typeface="Aptos"/>
              </a:rPr>
              <a:t>Performs candidate re-ranking and final answer generation.</a:t>
            </a:r>
          </a:p>
        </p:txBody>
      </p:sp>
      <p:sp>
        <p:nvSpPr>
          <p:cNvPr id="31" name="TextBox 30"/>
          <p:cNvSpPr txBox="1"/>
          <p:nvPr/>
        </p:nvSpPr>
        <p:spPr>
          <a:xfrm>
            <a:off x="6446520" y="4334256"/>
            <a:ext cx="2331720" cy="276999"/>
          </a:xfrm>
          <a:prstGeom prst="rect">
            <a:avLst/>
          </a:prstGeom>
          <a:noFill/>
        </p:spPr>
        <p:txBody>
          <a:bodyPr wrap="square" anchor="t">
            <a:spAutoFit/>
          </a:bodyPr>
          <a:lstStyle/>
          <a:p>
            <a:pPr algn="l"/>
            <a:r>
              <a:rPr sz="1200" b="1">
                <a:solidFill>
                  <a:srgbClr val="1C1E22"/>
                </a:solidFill>
                <a:latin typeface="Aptos"/>
              </a:rPr>
              <a:t>Mermaid.js</a:t>
            </a:r>
          </a:p>
        </p:txBody>
      </p:sp>
      <p:sp>
        <p:nvSpPr>
          <p:cNvPr id="32" name="TextBox 31"/>
          <p:cNvSpPr txBox="1"/>
          <p:nvPr/>
        </p:nvSpPr>
        <p:spPr>
          <a:xfrm>
            <a:off x="6446520" y="4562856"/>
            <a:ext cx="2331720" cy="461665"/>
          </a:xfrm>
          <a:prstGeom prst="rect">
            <a:avLst/>
          </a:prstGeom>
          <a:noFill/>
        </p:spPr>
        <p:txBody>
          <a:bodyPr wrap="square" anchor="t">
            <a:spAutoFit/>
          </a:bodyPr>
          <a:lstStyle/>
          <a:p>
            <a:pPr algn="l"/>
            <a:r>
              <a:rPr sz="1200" b="0">
                <a:solidFill>
                  <a:srgbClr val="373C44"/>
                </a:solidFill>
                <a:latin typeface="Aptos"/>
              </a:rPr>
              <a:t>Renders AI-generated architecture/flow diagrams.</a:t>
            </a:r>
          </a:p>
        </p:txBody>
      </p:sp>
      <p:sp>
        <p:nvSpPr>
          <p:cNvPr id="33" name="Rounded Rectangle 32"/>
          <p:cNvSpPr/>
          <p:nvPr/>
        </p:nvSpPr>
        <p:spPr>
          <a:xfrm>
            <a:off x="9098280" y="1417320"/>
            <a:ext cx="2468880" cy="4526280"/>
          </a:xfrm>
          <a:prstGeom prst="roundRect">
            <a:avLst>
              <a:gd name="adj" fmla="val 8000"/>
            </a:avLst>
          </a:prstGeom>
          <a:solidFill>
            <a:srgbClr val="FFFFFF"/>
          </a:solidFill>
          <a:ln w="22860">
            <a:solidFill>
              <a:srgbClr val="B552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TextBox 33"/>
          <p:cNvSpPr txBox="1"/>
          <p:nvPr/>
        </p:nvSpPr>
        <p:spPr>
          <a:xfrm>
            <a:off x="9281159" y="1618488"/>
            <a:ext cx="2103120" cy="276999"/>
          </a:xfrm>
          <a:prstGeom prst="rect">
            <a:avLst/>
          </a:prstGeom>
          <a:noFill/>
        </p:spPr>
        <p:txBody>
          <a:bodyPr wrap="square" anchor="t">
            <a:spAutoFit/>
          </a:bodyPr>
          <a:lstStyle/>
          <a:p>
            <a:pPr algn="l"/>
            <a:r>
              <a:rPr sz="1200" b="1">
                <a:solidFill>
                  <a:srgbClr val="B55285"/>
                </a:solidFill>
                <a:latin typeface="Aptos"/>
              </a:rPr>
              <a:t>FRONTEND &amp; DEVOPS</a:t>
            </a:r>
          </a:p>
        </p:txBody>
      </p:sp>
      <p:sp>
        <p:nvSpPr>
          <p:cNvPr id="35" name="TextBox 34"/>
          <p:cNvSpPr txBox="1"/>
          <p:nvPr/>
        </p:nvSpPr>
        <p:spPr>
          <a:xfrm>
            <a:off x="9281159" y="2084832"/>
            <a:ext cx="2103120" cy="276999"/>
          </a:xfrm>
          <a:prstGeom prst="rect">
            <a:avLst/>
          </a:prstGeom>
          <a:noFill/>
        </p:spPr>
        <p:txBody>
          <a:bodyPr wrap="square" anchor="t">
            <a:spAutoFit/>
          </a:bodyPr>
          <a:lstStyle/>
          <a:p>
            <a:pPr algn="l"/>
            <a:r>
              <a:rPr sz="1200" b="1">
                <a:solidFill>
                  <a:srgbClr val="1C1E22"/>
                </a:solidFill>
                <a:latin typeface="Aptos"/>
              </a:rPr>
              <a:t>HTML5</a:t>
            </a:r>
          </a:p>
        </p:txBody>
      </p:sp>
      <p:sp>
        <p:nvSpPr>
          <p:cNvPr id="36" name="TextBox 35"/>
          <p:cNvSpPr txBox="1"/>
          <p:nvPr/>
        </p:nvSpPr>
        <p:spPr>
          <a:xfrm>
            <a:off x="9281159" y="2313432"/>
            <a:ext cx="2103120" cy="276999"/>
          </a:xfrm>
          <a:prstGeom prst="rect">
            <a:avLst/>
          </a:prstGeom>
          <a:noFill/>
        </p:spPr>
        <p:txBody>
          <a:bodyPr wrap="square" anchor="t">
            <a:spAutoFit/>
          </a:bodyPr>
          <a:lstStyle/>
          <a:p>
            <a:pPr algn="l"/>
            <a:r>
              <a:rPr sz="1200" b="0">
                <a:solidFill>
                  <a:srgbClr val="373C44"/>
                </a:solidFill>
                <a:latin typeface="Aptos"/>
              </a:rPr>
              <a:t>Structures the web interface.</a:t>
            </a:r>
          </a:p>
        </p:txBody>
      </p:sp>
      <p:sp>
        <p:nvSpPr>
          <p:cNvPr id="37" name="TextBox 36"/>
          <p:cNvSpPr txBox="1"/>
          <p:nvPr/>
        </p:nvSpPr>
        <p:spPr>
          <a:xfrm>
            <a:off x="9281159" y="2617970"/>
            <a:ext cx="2103120" cy="276999"/>
          </a:xfrm>
          <a:prstGeom prst="rect">
            <a:avLst/>
          </a:prstGeom>
          <a:noFill/>
        </p:spPr>
        <p:txBody>
          <a:bodyPr wrap="square" anchor="t">
            <a:spAutoFit/>
          </a:bodyPr>
          <a:lstStyle/>
          <a:p>
            <a:pPr algn="l"/>
            <a:r>
              <a:rPr sz="1200" b="1" dirty="0">
                <a:solidFill>
                  <a:srgbClr val="1C1E22"/>
                </a:solidFill>
                <a:latin typeface="Aptos"/>
              </a:rPr>
              <a:t>Vanilla JavaScript</a:t>
            </a:r>
          </a:p>
        </p:txBody>
      </p:sp>
      <p:sp>
        <p:nvSpPr>
          <p:cNvPr id="38" name="TextBox 37"/>
          <p:cNvSpPr txBox="1"/>
          <p:nvPr/>
        </p:nvSpPr>
        <p:spPr>
          <a:xfrm>
            <a:off x="9281159" y="2879580"/>
            <a:ext cx="2103120" cy="461665"/>
          </a:xfrm>
          <a:prstGeom prst="rect">
            <a:avLst/>
          </a:prstGeom>
          <a:noFill/>
        </p:spPr>
        <p:txBody>
          <a:bodyPr wrap="square" anchor="t">
            <a:spAutoFit/>
          </a:bodyPr>
          <a:lstStyle/>
          <a:p>
            <a:pPr algn="l"/>
            <a:r>
              <a:rPr sz="1200" b="0" dirty="0">
                <a:solidFill>
                  <a:srgbClr val="373C44"/>
                </a:solidFill>
                <a:latin typeface="Aptos"/>
              </a:rPr>
              <a:t>Sends API requests and renders AI responses.</a:t>
            </a:r>
          </a:p>
        </p:txBody>
      </p:sp>
      <p:sp>
        <p:nvSpPr>
          <p:cNvPr id="39" name="TextBox 38"/>
          <p:cNvSpPr txBox="1"/>
          <p:nvPr/>
        </p:nvSpPr>
        <p:spPr>
          <a:xfrm>
            <a:off x="9281159" y="3312982"/>
            <a:ext cx="2103120" cy="276999"/>
          </a:xfrm>
          <a:prstGeom prst="rect">
            <a:avLst/>
          </a:prstGeom>
          <a:noFill/>
        </p:spPr>
        <p:txBody>
          <a:bodyPr wrap="square" anchor="t">
            <a:spAutoFit/>
          </a:bodyPr>
          <a:lstStyle/>
          <a:p>
            <a:pPr algn="l"/>
            <a:r>
              <a:rPr sz="1200" b="1" dirty="0">
                <a:solidFill>
                  <a:srgbClr val="1C1E22"/>
                </a:solidFill>
                <a:latin typeface="Aptos"/>
              </a:rPr>
              <a:t>Vanilla CSS</a:t>
            </a:r>
          </a:p>
        </p:txBody>
      </p:sp>
      <p:sp>
        <p:nvSpPr>
          <p:cNvPr id="40" name="TextBox 39"/>
          <p:cNvSpPr txBox="1"/>
          <p:nvPr/>
        </p:nvSpPr>
        <p:spPr>
          <a:xfrm>
            <a:off x="9281159" y="3559132"/>
            <a:ext cx="2103120" cy="461665"/>
          </a:xfrm>
          <a:prstGeom prst="rect">
            <a:avLst/>
          </a:prstGeom>
          <a:noFill/>
        </p:spPr>
        <p:txBody>
          <a:bodyPr wrap="square" anchor="t">
            <a:spAutoFit/>
          </a:bodyPr>
          <a:lstStyle/>
          <a:p>
            <a:pPr algn="l"/>
            <a:r>
              <a:rPr sz="1200" b="0" dirty="0">
                <a:solidFill>
                  <a:srgbClr val="373C44"/>
                </a:solidFill>
                <a:latin typeface="Aptos"/>
              </a:rPr>
              <a:t>Provides the </a:t>
            </a:r>
            <a:r>
              <a:rPr sz="1200" b="0" dirty="0" err="1">
                <a:solidFill>
                  <a:srgbClr val="373C44"/>
                </a:solidFill>
                <a:latin typeface="Aptos"/>
              </a:rPr>
              <a:t>glassmorphism</a:t>
            </a:r>
            <a:r>
              <a:rPr sz="1200" b="0" dirty="0">
                <a:solidFill>
                  <a:srgbClr val="373C44"/>
                </a:solidFill>
                <a:latin typeface="Aptos"/>
              </a:rPr>
              <a:t> UI and animations.</a:t>
            </a:r>
          </a:p>
        </p:txBody>
      </p:sp>
      <p:sp>
        <p:nvSpPr>
          <p:cNvPr id="41" name="TextBox 40"/>
          <p:cNvSpPr txBox="1"/>
          <p:nvPr/>
        </p:nvSpPr>
        <p:spPr>
          <a:xfrm>
            <a:off x="9281159" y="3981872"/>
            <a:ext cx="2103120" cy="276999"/>
          </a:xfrm>
          <a:prstGeom prst="rect">
            <a:avLst/>
          </a:prstGeom>
          <a:noFill/>
        </p:spPr>
        <p:txBody>
          <a:bodyPr wrap="square" anchor="t">
            <a:spAutoFit/>
          </a:bodyPr>
          <a:lstStyle/>
          <a:p>
            <a:pPr algn="l"/>
            <a:r>
              <a:rPr sz="1200" b="1" dirty="0" err="1">
                <a:solidFill>
                  <a:srgbClr val="1C1E22"/>
                </a:solidFill>
                <a:latin typeface="Aptos"/>
              </a:rPr>
              <a:t>Pytest</a:t>
            </a:r>
            <a:endParaRPr sz="1200" b="1" dirty="0">
              <a:solidFill>
                <a:srgbClr val="1C1E22"/>
              </a:solidFill>
              <a:latin typeface="Aptos"/>
            </a:endParaRPr>
          </a:p>
        </p:txBody>
      </p:sp>
      <p:sp>
        <p:nvSpPr>
          <p:cNvPr id="42" name="TextBox 41"/>
          <p:cNvSpPr txBox="1"/>
          <p:nvPr/>
        </p:nvSpPr>
        <p:spPr>
          <a:xfrm>
            <a:off x="9281159" y="4206494"/>
            <a:ext cx="2103120" cy="461665"/>
          </a:xfrm>
          <a:prstGeom prst="rect">
            <a:avLst/>
          </a:prstGeom>
          <a:noFill/>
        </p:spPr>
        <p:txBody>
          <a:bodyPr wrap="square" anchor="t">
            <a:spAutoFit/>
          </a:bodyPr>
          <a:lstStyle/>
          <a:p>
            <a:pPr algn="l"/>
            <a:r>
              <a:rPr sz="1200" b="0" dirty="0">
                <a:solidFill>
                  <a:srgbClr val="373C44"/>
                </a:solidFill>
                <a:latin typeface="Aptos"/>
              </a:rPr>
              <a:t>Tests extraction, parsing and repository behavior.</a:t>
            </a:r>
          </a:p>
        </p:txBody>
      </p:sp>
      <p:sp>
        <p:nvSpPr>
          <p:cNvPr id="43" name="TextBox 42"/>
          <p:cNvSpPr txBox="1"/>
          <p:nvPr/>
        </p:nvSpPr>
        <p:spPr>
          <a:xfrm>
            <a:off x="9281159" y="4635273"/>
            <a:ext cx="2103120" cy="276999"/>
          </a:xfrm>
          <a:prstGeom prst="rect">
            <a:avLst/>
          </a:prstGeom>
          <a:noFill/>
        </p:spPr>
        <p:txBody>
          <a:bodyPr wrap="square" anchor="t">
            <a:spAutoFit/>
          </a:bodyPr>
          <a:lstStyle/>
          <a:p>
            <a:pPr algn="l"/>
            <a:r>
              <a:rPr sz="1200" b="1" dirty="0">
                <a:solidFill>
                  <a:srgbClr val="1C1E22"/>
                </a:solidFill>
                <a:latin typeface="Aptos"/>
              </a:rPr>
              <a:t>GitHub Actions</a:t>
            </a:r>
          </a:p>
        </p:txBody>
      </p:sp>
      <p:sp>
        <p:nvSpPr>
          <p:cNvPr id="44" name="TextBox 43"/>
          <p:cNvSpPr txBox="1"/>
          <p:nvPr/>
        </p:nvSpPr>
        <p:spPr>
          <a:xfrm>
            <a:off x="9281159" y="4827009"/>
            <a:ext cx="2103120" cy="461665"/>
          </a:xfrm>
          <a:prstGeom prst="rect">
            <a:avLst/>
          </a:prstGeom>
          <a:noFill/>
        </p:spPr>
        <p:txBody>
          <a:bodyPr wrap="square" anchor="t">
            <a:spAutoFit/>
          </a:bodyPr>
          <a:lstStyle/>
          <a:p>
            <a:pPr algn="l"/>
            <a:r>
              <a:rPr sz="1200" b="0" dirty="0">
                <a:solidFill>
                  <a:srgbClr val="373C44"/>
                </a:solidFill>
                <a:latin typeface="Aptos"/>
              </a:rPr>
              <a:t>Automates CI/testing workflows.</a:t>
            </a:r>
          </a:p>
        </p:txBody>
      </p:sp>
      <p:sp>
        <p:nvSpPr>
          <p:cNvPr id="45" name="TextBox 44"/>
          <p:cNvSpPr txBox="1"/>
          <p:nvPr/>
        </p:nvSpPr>
        <p:spPr>
          <a:xfrm>
            <a:off x="9281159" y="5175749"/>
            <a:ext cx="2103120" cy="276999"/>
          </a:xfrm>
          <a:prstGeom prst="rect">
            <a:avLst/>
          </a:prstGeom>
          <a:noFill/>
        </p:spPr>
        <p:txBody>
          <a:bodyPr wrap="square" anchor="t">
            <a:spAutoFit/>
          </a:bodyPr>
          <a:lstStyle/>
          <a:p>
            <a:pPr algn="l"/>
            <a:r>
              <a:rPr b="1" baseline="-25000" dirty="0" err="1">
                <a:solidFill>
                  <a:srgbClr val="1C1E22"/>
                </a:solidFill>
                <a:latin typeface="Aptos"/>
              </a:rPr>
              <a:t>Ruff</a:t>
            </a:r>
            <a:endParaRPr b="1" baseline="-25000" dirty="0">
              <a:solidFill>
                <a:srgbClr val="1C1E22"/>
              </a:solidFill>
              <a:latin typeface="Aptos"/>
            </a:endParaRPr>
          </a:p>
        </p:txBody>
      </p:sp>
      <p:sp>
        <p:nvSpPr>
          <p:cNvPr id="46" name="TextBox 45"/>
          <p:cNvSpPr txBox="1"/>
          <p:nvPr/>
        </p:nvSpPr>
        <p:spPr>
          <a:xfrm>
            <a:off x="9281159" y="5491772"/>
            <a:ext cx="2103120" cy="461665"/>
          </a:xfrm>
          <a:prstGeom prst="rect">
            <a:avLst/>
          </a:prstGeom>
          <a:noFill/>
        </p:spPr>
        <p:txBody>
          <a:bodyPr wrap="square" anchor="t">
            <a:spAutoFit/>
          </a:bodyPr>
          <a:lstStyle/>
          <a:p>
            <a:pPr algn="l"/>
            <a:r>
              <a:rPr sz="1200" b="0" dirty="0">
                <a:solidFill>
                  <a:srgbClr val="373C44"/>
                </a:solidFill>
                <a:latin typeface="Aptos"/>
              </a:rPr>
              <a:t>Lints code and suggests fixes on PRs.</a:t>
            </a:r>
          </a:p>
        </p:txBody>
      </p:sp>
      <p:sp>
        <p:nvSpPr>
          <p:cNvPr id="47" name="TextBox 46"/>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Technical Implementation</a:t>
            </a:r>
          </a:p>
        </p:txBody>
      </p:sp>
      <p:sp>
        <p:nvSpPr>
          <p:cNvPr id="3" name="Rectangle 2"/>
          <p:cNvSpPr/>
          <p:nvPr/>
        </p:nvSpPr>
        <p:spPr>
          <a:xfrm>
            <a:off x="640080" y="932688"/>
            <a:ext cx="868680" cy="32004"/>
          </a:xfrm>
          <a:prstGeom prst="rect">
            <a:avLst/>
          </a:prstGeom>
          <a:solidFill>
            <a:srgbClr val="84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1371600"/>
            <a:ext cx="10652760" cy="480060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664208"/>
            <a:ext cx="1508760" cy="256032"/>
          </a:xfrm>
          <a:prstGeom prst="rect">
            <a:avLst/>
          </a:prstGeom>
          <a:noFill/>
        </p:spPr>
        <p:txBody>
          <a:bodyPr wrap="square" anchor="t">
            <a:spAutoFit/>
          </a:bodyPr>
          <a:lstStyle/>
          <a:p>
            <a:pPr algn="l"/>
            <a:r>
              <a:rPr sz="1250" b="1">
                <a:solidFill>
                  <a:srgbClr val="1C1E22"/>
                </a:solidFill>
                <a:latin typeface="Aptos"/>
              </a:rPr>
              <a:t>Backend</a:t>
            </a:r>
          </a:p>
        </p:txBody>
      </p:sp>
      <p:sp>
        <p:nvSpPr>
          <p:cNvPr id="6" name="TextBox 5"/>
          <p:cNvSpPr txBox="1"/>
          <p:nvPr/>
        </p:nvSpPr>
        <p:spPr>
          <a:xfrm>
            <a:off x="2240280" y="1645920"/>
            <a:ext cx="8549640" cy="502920"/>
          </a:xfrm>
          <a:prstGeom prst="rect">
            <a:avLst/>
          </a:prstGeom>
          <a:noFill/>
        </p:spPr>
        <p:txBody>
          <a:bodyPr wrap="square" anchor="t">
            <a:spAutoFit/>
          </a:bodyPr>
          <a:lstStyle/>
          <a:p>
            <a:pPr algn="l"/>
            <a:r>
              <a:rPr sz="1350" b="0">
                <a:solidFill>
                  <a:srgbClr val="373C44"/>
                </a:solidFill>
                <a:latin typeface="Aptos"/>
              </a:rPr>
              <a:t>Python 3.11 • FastAPI • Uvicorn</a:t>
            </a:r>
          </a:p>
        </p:txBody>
      </p:sp>
      <p:sp>
        <p:nvSpPr>
          <p:cNvPr id="7" name="TextBox 6"/>
          <p:cNvSpPr txBox="1"/>
          <p:nvPr/>
        </p:nvSpPr>
        <p:spPr>
          <a:xfrm>
            <a:off x="896112" y="2212848"/>
            <a:ext cx="1508760" cy="256032"/>
          </a:xfrm>
          <a:prstGeom prst="rect">
            <a:avLst/>
          </a:prstGeom>
          <a:noFill/>
        </p:spPr>
        <p:txBody>
          <a:bodyPr wrap="square" anchor="t">
            <a:spAutoFit/>
          </a:bodyPr>
          <a:lstStyle/>
          <a:p>
            <a:pPr algn="l"/>
            <a:r>
              <a:rPr sz="1250" b="1">
                <a:solidFill>
                  <a:srgbClr val="1C1E22"/>
                </a:solidFill>
                <a:latin typeface="Aptos"/>
              </a:rPr>
              <a:t>Code Extraction</a:t>
            </a:r>
          </a:p>
        </p:txBody>
      </p:sp>
      <p:sp>
        <p:nvSpPr>
          <p:cNvPr id="8" name="TextBox 7"/>
          <p:cNvSpPr txBox="1"/>
          <p:nvPr/>
        </p:nvSpPr>
        <p:spPr>
          <a:xfrm>
            <a:off x="2240280" y="2194560"/>
            <a:ext cx="8549640" cy="502920"/>
          </a:xfrm>
          <a:prstGeom prst="rect">
            <a:avLst/>
          </a:prstGeom>
          <a:noFill/>
        </p:spPr>
        <p:txBody>
          <a:bodyPr wrap="square" anchor="t">
            <a:spAutoFit/>
          </a:bodyPr>
          <a:lstStyle/>
          <a:p>
            <a:pPr algn="l"/>
            <a:r>
              <a:rPr sz="1350" b="0">
                <a:solidFill>
                  <a:srgbClr val="373C44"/>
                </a:solidFill>
                <a:latin typeface="Aptos"/>
              </a:rPr>
              <a:t>Tree-sitter / AST-based PHP extraction into logical classes, methods and functions</a:t>
            </a:r>
          </a:p>
        </p:txBody>
      </p:sp>
      <p:sp>
        <p:nvSpPr>
          <p:cNvPr id="9" name="TextBox 8"/>
          <p:cNvSpPr txBox="1"/>
          <p:nvPr/>
        </p:nvSpPr>
        <p:spPr>
          <a:xfrm>
            <a:off x="896112" y="2761488"/>
            <a:ext cx="1508760" cy="256032"/>
          </a:xfrm>
          <a:prstGeom prst="rect">
            <a:avLst/>
          </a:prstGeom>
          <a:noFill/>
        </p:spPr>
        <p:txBody>
          <a:bodyPr wrap="square" anchor="t">
            <a:spAutoFit/>
          </a:bodyPr>
          <a:lstStyle/>
          <a:p>
            <a:pPr algn="l"/>
            <a:r>
              <a:rPr sz="1250" b="1">
                <a:solidFill>
                  <a:srgbClr val="1C1E22"/>
                </a:solidFill>
                <a:latin typeface="Aptos"/>
              </a:rPr>
              <a:t>Embeddings</a:t>
            </a:r>
          </a:p>
        </p:txBody>
      </p:sp>
      <p:sp>
        <p:nvSpPr>
          <p:cNvPr id="10" name="TextBox 9"/>
          <p:cNvSpPr txBox="1"/>
          <p:nvPr/>
        </p:nvSpPr>
        <p:spPr>
          <a:xfrm>
            <a:off x="2240280" y="2743200"/>
            <a:ext cx="8549640" cy="502920"/>
          </a:xfrm>
          <a:prstGeom prst="rect">
            <a:avLst/>
          </a:prstGeom>
          <a:noFill/>
        </p:spPr>
        <p:txBody>
          <a:bodyPr wrap="square" anchor="t">
            <a:spAutoFit/>
          </a:bodyPr>
          <a:lstStyle/>
          <a:p>
            <a:pPr algn="l"/>
            <a:r>
              <a:rPr sz="1350" b="0">
                <a:solidFill>
                  <a:srgbClr val="373C44"/>
                </a:solidFill>
                <a:latin typeface="Aptos"/>
              </a:rPr>
              <a:t>SentenceTransformers with BAAI/bge-base-en-v1.5</a:t>
            </a:r>
          </a:p>
        </p:txBody>
      </p:sp>
      <p:sp>
        <p:nvSpPr>
          <p:cNvPr id="11" name="TextBox 10"/>
          <p:cNvSpPr txBox="1"/>
          <p:nvPr/>
        </p:nvSpPr>
        <p:spPr>
          <a:xfrm>
            <a:off x="896112" y="3310128"/>
            <a:ext cx="1508760" cy="256032"/>
          </a:xfrm>
          <a:prstGeom prst="rect">
            <a:avLst/>
          </a:prstGeom>
          <a:noFill/>
        </p:spPr>
        <p:txBody>
          <a:bodyPr wrap="square" anchor="t">
            <a:spAutoFit/>
          </a:bodyPr>
          <a:lstStyle/>
          <a:p>
            <a:pPr algn="l"/>
            <a:r>
              <a:rPr sz="1250" b="1">
                <a:solidFill>
                  <a:srgbClr val="1C1E22"/>
                </a:solidFill>
                <a:latin typeface="Aptos"/>
              </a:rPr>
              <a:t>Vector Store</a:t>
            </a:r>
          </a:p>
        </p:txBody>
      </p:sp>
      <p:sp>
        <p:nvSpPr>
          <p:cNvPr id="12" name="TextBox 11"/>
          <p:cNvSpPr txBox="1"/>
          <p:nvPr/>
        </p:nvSpPr>
        <p:spPr>
          <a:xfrm>
            <a:off x="2240280" y="3291840"/>
            <a:ext cx="8549640" cy="502920"/>
          </a:xfrm>
          <a:prstGeom prst="rect">
            <a:avLst/>
          </a:prstGeom>
          <a:noFill/>
        </p:spPr>
        <p:txBody>
          <a:bodyPr wrap="square" anchor="t">
            <a:spAutoFit/>
          </a:bodyPr>
          <a:lstStyle/>
          <a:p>
            <a:pPr algn="l"/>
            <a:r>
              <a:rPr sz="1350" b="0">
                <a:solidFill>
                  <a:srgbClr val="373C44"/>
                </a:solidFill>
                <a:latin typeface="Aptos"/>
              </a:rPr>
              <a:t>ChromaDB stores code embeddings, source content and metadata</a:t>
            </a:r>
          </a:p>
        </p:txBody>
      </p:sp>
      <p:sp>
        <p:nvSpPr>
          <p:cNvPr id="13" name="TextBox 12"/>
          <p:cNvSpPr txBox="1"/>
          <p:nvPr/>
        </p:nvSpPr>
        <p:spPr>
          <a:xfrm>
            <a:off x="896112" y="3858768"/>
            <a:ext cx="1508760" cy="256032"/>
          </a:xfrm>
          <a:prstGeom prst="rect">
            <a:avLst/>
          </a:prstGeom>
          <a:noFill/>
        </p:spPr>
        <p:txBody>
          <a:bodyPr wrap="square" anchor="t">
            <a:spAutoFit/>
          </a:bodyPr>
          <a:lstStyle/>
          <a:p>
            <a:pPr algn="l"/>
            <a:r>
              <a:rPr sz="1250" b="1">
                <a:solidFill>
                  <a:srgbClr val="1C1E22"/>
                </a:solidFill>
                <a:latin typeface="Aptos"/>
              </a:rPr>
              <a:t>Retrieval</a:t>
            </a:r>
          </a:p>
        </p:txBody>
      </p:sp>
      <p:sp>
        <p:nvSpPr>
          <p:cNvPr id="14" name="TextBox 13"/>
          <p:cNvSpPr txBox="1"/>
          <p:nvPr/>
        </p:nvSpPr>
        <p:spPr>
          <a:xfrm>
            <a:off x="2240280" y="3840480"/>
            <a:ext cx="8549640" cy="502920"/>
          </a:xfrm>
          <a:prstGeom prst="rect">
            <a:avLst/>
          </a:prstGeom>
          <a:noFill/>
        </p:spPr>
        <p:txBody>
          <a:bodyPr wrap="square" anchor="t">
            <a:spAutoFit/>
          </a:bodyPr>
          <a:lstStyle/>
          <a:p>
            <a:pPr algn="l"/>
            <a:r>
              <a:rPr sz="1350" b="0">
                <a:solidFill>
                  <a:srgbClr val="373C44"/>
                </a:solidFill>
                <a:latin typeface="Aptos"/>
              </a:rPr>
              <a:t>Hybrid scoring combines semantic distance with identifier, filename, class/method and structural matches</a:t>
            </a:r>
          </a:p>
        </p:txBody>
      </p:sp>
      <p:sp>
        <p:nvSpPr>
          <p:cNvPr id="15" name="TextBox 14"/>
          <p:cNvSpPr txBox="1"/>
          <p:nvPr/>
        </p:nvSpPr>
        <p:spPr>
          <a:xfrm>
            <a:off x="896112" y="4407407"/>
            <a:ext cx="1508760" cy="256032"/>
          </a:xfrm>
          <a:prstGeom prst="rect">
            <a:avLst/>
          </a:prstGeom>
          <a:noFill/>
        </p:spPr>
        <p:txBody>
          <a:bodyPr wrap="square" anchor="t">
            <a:spAutoFit/>
          </a:bodyPr>
          <a:lstStyle/>
          <a:p>
            <a:pPr algn="l"/>
            <a:r>
              <a:rPr sz="1250" b="1">
                <a:solidFill>
                  <a:srgbClr val="1C1E22"/>
                </a:solidFill>
                <a:latin typeface="Aptos"/>
              </a:rPr>
              <a:t>Re-ranking</a:t>
            </a:r>
          </a:p>
        </p:txBody>
      </p:sp>
      <p:sp>
        <p:nvSpPr>
          <p:cNvPr id="16" name="TextBox 15"/>
          <p:cNvSpPr txBox="1"/>
          <p:nvPr/>
        </p:nvSpPr>
        <p:spPr>
          <a:xfrm>
            <a:off x="2240280" y="4389120"/>
            <a:ext cx="8549640" cy="502920"/>
          </a:xfrm>
          <a:prstGeom prst="rect">
            <a:avLst/>
          </a:prstGeom>
          <a:noFill/>
        </p:spPr>
        <p:txBody>
          <a:bodyPr wrap="square" anchor="t">
            <a:spAutoFit/>
          </a:bodyPr>
          <a:lstStyle/>
          <a:p>
            <a:pPr algn="l"/>
            <a:r>
              <a:rPr sz="1350" b="0">
                <a:solidFill>
                  <a:srgbClr val="373C44"/>
                </a:solidFill>
                <a:latin typeface="Aptos"/>
              </a:rPr>
              <a:t>LangChain + Groq/Qwen reads Top 10 candidates and selects the most relevant Top 3</a:t>
            </a:r>
          </a:p>
        </p:txBody>
      </p:sp>
      <p:sp>
        <p:nvSpPr>
          <p:cNvPr id="17" name="TextBox 16"/>
          <p:cNvSpPr txBox="1"/>
          <p:nvPr/>
        </p:nvSpPr>
        <p:spPr>
          <a:xfrm>
            <a:off x="896112" y="4956047"/>
            <a:ext cx="1508760" cy="256032"/>
          </a:xfrm>
          <a:prstGeom prst="rect">
            <a:avLst/>
          </a:prstGeom>
          <a:noFill/>
        </p:spPr>
        <p:txBody>
          <a:bodyPr wrap="square" anchor="t">
            <a:spAutoFit/>
          </a:bodyPr>
          <a:lstStyle/>
          <a:p>
            <a:pPr algn="l"/>
            <a:r>
              <a:rPr sz="1250" b="1">
                <a:solidFill>
                  <a:srgbClr val="1C1E22"/>
                </a:solidFill>
                <a:latin typeface="Aptos"/>
              </a:rPr>
              <a:t>Generation</a:t>
            </a:r>
          </a:p>
        </p:txBody>
      </p:sp>
      <p:sp>
        <p:nvSpPr>
          <p:cNvPr id="18" name="TextBox 17"/>
          <p:cNvSpPr txBox="1"/>
          <p:nvPr/>
        </p:nvSpPr>
        <p:spPr>
          <a:xfrm>
            <a:off x="2240280" y="4937759"/>
            <a:ext cx="8549640" cy="502920"/>
          </a:xfrm>
          <a:prstGeom prst="rect">
            <a:avLst/>
          </a:prstGeom>
          <a:noFill/>
        </p:spPr>
        <p:txBody>
          <a:bodyPr wrap="square" anchor="t">
            <a:spAutoFit/>
          </a:bodyPr>
          <a:lstStyle/>
          <a:p>
            <a:pPr algn="l"/>
            <a:r>
              <a:rPr sz="1350" b="0">
                <a:solidFill>
                  <a:srgbClr val="373C44"/>
                </a:solidFill>
                <a:latin typeface="Aptos"/>
              </a:rPr>
              <a:t>Final LLM produces structured JSON: Simple Summary, Technical Details and Mermaid.js diagram code</a:t>
            </a:r>
          </a:p>
        </p:txBody>
      </p:sp>
      <p:sp>
        <p:nvSpPr>
          <p:cNvPr id="19" name="TextBox 18"/>
          <p:cNvSpPr txBox="1"/>
          <p:nvPr/>
        </p:nvSpPr>
        <p:spPr>
          <a:xfrm>
            <a:off x="896112" y="5504687"/>
            <a:ext cx="1508760" cy="256032"/>
          </a:xfrm>
          <a:prstGeom prst="rect">
            <a:avLst/>
          </a:prstGeom>
          <a:noFill/>
        </p:spPr>
        <p:txBody>
          <a:bodyPr wrap="square" anchor="t">
            <a:spAutoFit/>
          </a:bodyPr>
          <a:lstStyle/>
          <a:p>
            <a:pPr algn="l"/>
            <a:r>
              <a:rPr sz="1250" b="1">
                <a:solidFill>
                  <a:srgbClr val="1C1E22"/>
                </a:solidFill>
                <a:latin typeface="Aptos"/>
              </a:rPr>
              <a:t>API + Frontend</a:t>
            </a:r>
          </a:p>
        </p:txBody>
      </p:sp>
      <p:sp>
        <p:nvSpPr>
          <p:cNvPr id="20" name="TextBox 19"/>
          <p:cNvSpPr txBox="1"/>
          <p:nvPr/>
        </p:nvSpPr>
        <p:spPr>
          <a:xfrm>
            <a:off x="2240280" y="5486399"/>
            <a:ext cx="8549640" cy="502920"/>
          </a:xfrm>
          <a:prstGeom prst="rect">
            <a:avLst/>
          </a:prstGeom>
          <a:noFill/>
        </p:spPr>
        <p:txBody>
          <a:bodyPr wrap="square" anchor="t">
            <a:spAutoFit/>
          </a:bodyPr>
          <a:lstStyle/>
          <a:p>
            <a:pPr algn="l"/>
            <a:r>
              <a:rPr sz="1350" b="0">
                <a:solidFill>
                  <a:srgbClr val="373C44"/>
                </a:solidFill>
                <a:latin typeface="Aptos"/>
              </a:rPr>
              <a:t>FastAPI /api/ask connects the pipeline to HTML5, Vanilla JS and CSS UI</a:t>
            </a:r>
          </a:p>
        </p:txBody>
      </p:sp>
      <p:sp>
        <p:nvSpPr>
          <p:cNvPr id="21" name="TextBox 20"/>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Methodology — Project Pipeline</a:t>
            </a:r>
          </a:p>
        </p:txBody>
      </p:sp>
      <p:sp>
        <p:nvSpPr>
          <p:cNvPr id="3" name="Rectangle 2"/>
          <p:cNvSpPr/>
          <p:nvPr/>
        </p:nvSpPr>
        <p:spPr>
          <a:xfrm>
            <a:off x="640080" y="932688"/>
            <a:ext cx="868680" cy="32004"/>
          </a:xfrm>
          <a:prstGeom prst="rect">
            <a:avLst/>
          </a:prstGeom>
          <a:solidFill>
            <a:srgbClr val="5F67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33271"/>
            <a:ext cx="10881360" cy="365760"/>
          </a:xfrm>
          <a:prstGeom prst="rect">
            <a:avLst/>
          </a:prstGeom>
          <a:noFill/>
        </p:spPr>
        <p:txBody>
          <a:bodyPr wrap="square" anchor="t">
            <a:spAutoFit/>
          </a:bodyPr>
          <a:lstStyle/>
          <a:p>
            <a:pPr algn="l"/>
            <a:r>
              <a:rPr sz="1250" b="0">
                <a:solidFill>
                  <a:srgbClr val="69707A"/>
                </a:solidFill>
                <a:latin typeface="Aptos"/>
              </a:rPr>
              <a:t>End-to-end flow from repository ingestion to an explainable developer answer</a:t>
            </a:r>
          </a:p>
        </p:txBody>
      </p:sp>
      <p:sp>
        <p:nvSpPr>
          <p:cNvPr id="5" name="Rounded Rectangle 4"/>
          <p:cNvSpPr/>
          <p:nvPr/>
        </p:nvSpPr>
        <p:spPr>
          <a:xfrm>
            <a:off x="502920" y="2331720"/>
            <a:ext cx="1417320" cy="914400"/>
          </a:xfrm>
          <a:prstGeom prst="roundRect">
            <a:avLst>
              <a:gd name="adj" fmla="val 8000"/>
            </a:avLst>
          </a:prstGeom>
          <a:solidFill>
            <a:srgbClr val="FFFFFF"/>
          </a:solidFill>
          <a:ln w="25400">
            <a:solidFill>
              <a:srgbClr val="E06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2404872"/>
            <a:ext cx="1271016" cy="768096"/>
          </a:xfrm>
          <a:prstGeom prst="rect">
            <a:avLst/>
          </a:prstGeom>
          <a:noFill/>
        </p:spPr>
        <p:txBody>
          <a:bodyPr wrap="square" anchor="ctr">
            <a:spAutoFit/>
          </a:bodyPr>
          <a:lstStyle/>
          <a:p>
            <a:pPr algn="ctr"/>
            <a:r>
              <a:rPr sz="1300" b="1">
                <a:solidFill>
                  <a:srgbClr val="1C1E22"/>
                </a:solidFill>
                <a:latin typeface="Aptos"/>
              </a:rPr>
              <a:t>Ushahidi
PHP Repo</a:t>
            </a:r>
          </a:p>
        </p:txBody>
      </p:sp>
      <p:sp>
        <p:nvSpPr>
          <p:cNvPr id="7" name="Rounded Rectangle 6"/>
          <p:cNvSpPr/>
          <p:nvPr/>
        </p:nvSpPr>
        <p:spPr>
          <a:xfrm>
            <a:off x="2057400" y="2331720"/>
            <a:ext cx="1417320" cy="914400"/>
          </a:xfrm>
          <a:prstGeom prst="roundRect">
            <a:avLst>
              <a:gd name="adj" fmla="val 8000"/>
            </a:avLst>
          </a:prstGeom>
          <a:solidFill>
            <a:srgbClr val="FFFFFF"/>
          </a:solidFill>
          <a:ln w="25400">
            <a:solidFill>
              <a:srgbClr val="DAA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30552" y="2404872"/>
            <a:ext cx="1271016" cy="768096"/>
          </a:xfrm>
          <a:prstGeom prst="rect">
            <a:avLst/>
          </a:prstGeom>
          <a:noFill/>
        </p:spPr>
        <p:txBody>
          <a:bodyPr wrap="square" anchor="ctr">
            <a:spAutoFit/>
          </a:bodyPr>
          <a:lstStyle/>
          <a:p>
            <a:pPr algn="ctr"/>
            <a:r>
              <a:rPr sz="1300" b="1">
                <a:solidFill>
                  <a:srgbClr val="1C1E22"/>
                </a:solidFill>
                <a:latin typeface="Aptos"/>
              </a:rPr>
              <a:t>PHP
Extraction</a:t>
            </a:r>
          </a:p>
        </p:txBody>
      </p:sp>
      <p:sp>
        <p:nvSpPr>
          <p:cNvPr id="9" name="Rounded Rectangle 8"/>
          <p:cNvSpPr/>
          <p:nvPr/>
        </p:nvSpPr>
        <p:spPr>
          <a:xfrm>
            <a:off x="3611880" y="2331720"/>
            <a:ext cx="1417320" cy="914400"/>
          </a:xfrm>
          <a:prstGeom prst="roundRect">
            <a:avLst>
              <a:gd name="adj" fmla="val 8000"/>
            </a:avLst>
          </a:prstGeom>
          <a:solidFill>
            <a:srgbClr val="FFFFFF"/>
          </a:solidFill>
          <a:ln w="25400">
            <a:solidFill>
              <a:srgbClr val="845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85032" y="2404872"/>
            <a:ext cx="1271016" cy="768096"/>
          </a:xfrm>
          <a:prstGeom prst="rect">
            <a:avLst/>
          </a:prstGeom>
          <a:noFill/>
        </p:spPr>
        <p:txBody>
          <a:bodyPr wrap="square" anchor="ctr">
            <a:spAutoFit/>
          </a:bodyPr>
          <a:lstStyle/>
          <a:p>
            <a:pPr algn="ctr"/>
            <a:r>
              <a:rPr sz="1300" b="1">
                <a:solidFill>
                  <a:srgbClr val="1C1E22"/>
                </a:solidFill>
                <a:latin typeface="Aptos"/>
              </a:rPr>
              <a:t>BGE-base
Embeddings</a:t>
            </a:r>
          </a:p>
        </p:txBody>
      </p:sp>
      <p:sp>
        <p:nvSpPr>
          <p:cNvPr id="11" name="Rounded Rectangle 10"/>
          <p:cNvSpPr/>
          <p:nvPr/>
        </p:nvSpPr>
        <p:spPr>
          <a:xfrm>
            <a:off x="5166360" y="2331720"/>
            <a:ext cx="1417320" cy="914400"/>
          </a:xfrm>
          <a:prstGeom prst="roundRect">
            <a:avLst>
              <a:gd name="adj" fmla="val 8000"/>
            </a:avLst>
          </a:prstGeom>
          <a:solidFill>
            <a:srgbClr val="FFFFFF"/>
          </a:solidFill>
          <a:ln w="25400">
            <a:solidFill>
              <a:srgbClr val="2A9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39512" y="2404872"/>
            <a:ext cx="1271016" cy="768096"/>
          </a:xfrm>
          <a:prstGeom prst="rect">
            <a:avLst/>
          </a:prstGeom>
          <a:noFill/>
        </p:spPr>
        <p:txBody>
          <a:bodyPr wrap="square" anchor="ctr">
            <a:spAutoFit/>
          </a:bodyPr>
          <a:lstStyle/>
          <a:p>
            <a:pPr algn="ctr"/>
            <a:r>
              <a:rPr sz="1300" b="1">
                <a:solidFill>
                  <a:srgbClr val="1C1E22"/>
                </a:solidFill>
                <a:latin typeface="Aptos"/>
              </a:rPr>
              <a:t>ChromaDB
Vector Store</a:t>
            </a:r>
          </a:p>
        </p:txBody>
      </p:sp>
      <p:sp>
        <p:nvSpPr>
          <p:cNvPr id="13" name="Rounded Rectangle 12"/>
          <p:cNvSpPr/>
          <p:nvPr/>
        </p:nvSpPr>
        <p:spPr>
          <a:xfrm>
            <a:off x="6720840" y="2331720"/>
            <a:ext cx="1417320" cy="914400"/>
          </a:xfrm>
          <a:prstGeom prst="roundRect">
            <a:avLst>
              <a:gd name="adj" fmla="val 8000"/>
            </a:avLst>
          </a:prstGeom>
          <a:solidFill>
            <a:srgbClr val="FFFFFF"/>
          </a:solidFill>
          <a:ln w="25400">
            <a:solidFill>
              <a:srgbClr val="2A9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2404872"/>
            <a:ext cx="1271016" cy="768096"/>
          </a:xfrm>
          <a:prstGeom prst="rect">
            <a:avLst/>
          </a:prstGeom>
          <a:noFill/>
        </p:spPr>
        <p:txBody>
          <a:bodyPr wrap="square" anchor="ctr">
            <a:spAutoFit/>
          </a:bodyPr>
          <a:lstStyle/>
          <a:p>
            <a:pPr algn="ctr"/>
            <a:r>
              <a:rPr sz="1300" b="1">
                <a:solidFill>
                  <a:srgbClr val="1C1E22"/>
                </a:solidFill>
                <a:latin typeface="Aptos"/>
              </a:rPr>
              <a:t>Hybrid
Retrieval</a:t>
            </a:r>
          </a:p>
        </p:txBody>
      </p:sp>
      <p:sp>
        <p:nvSpPr>
          <p:cNvPr id="15" name="Rounded Rectangle 14"/>
          <p:cNvSpPr/>
          <p:nvPr/>
        </p:nvSpPr>
        <p:spPr>
          <a:xfrm>
            <a:off x="8275320" y="2331720"/>
            <a:ext cx="1417320" cy="914400"/>
          </a:xfrm>
          <a:prstGeom prst="roundRect">
            <a:avLst>
              <a:gd name="adj" fmla="val 8000"/>
            </a:avLst>
          </a:prstGeom>
          <a:solidFill>
            <a:srgbClr val="FFFFFF"/>
          </a:solidFill>
          <a:ln w="25400">
            <a:solidFill>
              <a:srgbClr val="845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48472" y="2404872"/>
            <a:ext cx="1271016" cy="768096"/>
          </a:xfrm>
          <a:prstGeom prst="rect">
            <a:avLst/>
          </a:prstGeom>
          <a:noFill/>
        </p:spPr>
        <p:txBody>
          <a:bodyPr wrap="square" anchor="ctr">
            <a:spAutoFit/>
          </a:bodyPr>
          <a:lstStyle/>
          <a:p>
            <a:pPr algn="ctr"/>
            <a:r>
              <a:rPr sz="1300" b="1">
                <a:solidFill>
                  <a:srgbClr val="1C1E22"/>
                </a:solidFill>
                <a:latin typeface="Aptos"/>
              </a:rPr>
              <a:t>LLM
Re-ranking</a:t>
            </a:r>
          </a:p>
        </p:txBody>
      </p:sp>
      <p:sp>
        <p:nvSpPr>
          <p:cNvPr id="17" name="Rounded Rectangle 16"/>
          <p:cNvSpPr/>
          <p:nvPr/>
        </p:nvSpPr>
        <p:spPr>
          <a:xfrm>
            <a:off x="9829800" y="2331720"/>
            <a:ext cx="1417320" cy="914400"/>
          </a:xfrm>
          <a:prstGeom prst="roundRect">
            <a:avLst>
              <a:gd name="adj" fmla="val 8000"/>
            </a:avLst>
          </a:prstGeom>
          <a:solidFill>
            <a:srgbClr val="FFFFFF"/>
          </a:solidFill>
          <a:ln w="25400">
            <a:solidFill>
              <a:srgbClr val="509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902952" y="2404872"/>
            <a:ext cx="1271016" cy="768096"/>
          </a:xfrm>
          <a:prstGeom prst="rect">
            <a:avLst/>
          </a:prstGeom>
          <a:noFill/>
        </p:spPr>
        <p:txBody>
          <a:bodyPr wrap="square" anchor="ctr">
            <a:spAutoFit/>
          </a:bodyPr>
          <a:lstStyle/>
          <a:p>
            <a:pPr algn="ctr"/>
            <a:r>
              <a:rPr sz="1300" b="1">
                <a:solidFill>
                  <a:srgbClr val="1C1E22"/>
                </a:solidFill>
                <a:latin typeface="Aptos"/>
              </a:rPr>
              <a:t>Grounded
Answer</a:t>
            </a:r>
          </a:p>
        </p:txBody>
      </p:sp>
      <p:cxnSp>
        <p:nvCxnSpPr>
          <p:cNvPr id="19" name="Connector 18"/>
          <p:cNvCxnSpPr/>
          <p:nvPr/>
        </p:nvCxnSpPr>
        <p:spPr>
          <a:xfrm>
            <a:off x="1920240" y="2788920"/>
            <a:ext cx="1371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74720" y="2788920"/>
            <a:ext cx="1371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0" y="2788920"/>
            <a:ext cx="1371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583680" y="2788920"/>
            <a:ext cx="1371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38160" y="2788920"/>
            <a:ext cx="1371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2788920"/>
            <a:ext cx="1371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14400" y="4160520"/>
            <a:ext cx="10241280" cy="594360"/>
          </a:xfrm>
          <a:prstGeom prst="rect">
            <a:avLst/>
          </a:prstGeom>
          <a:noFill/>
        </p:spPr>
        <p:txBody>
          <a:bodyPr wrap="square" anchor="t">
            <a:spAutoFit/>
          </a:bodyPr>
          <a:lstStyle/>
          <a:p>
            <a:pPr algn="ctr"/>
            <a:r>
              <a:rPr sz="1600" b="0">
                <a:solidFill>
                  <a:srgbClr val="373C44"/>
                </a:solidFill>
                <a:latin typeface="Aptos"/>
              </a:rPr>
              <a:t>Repository → structured AST code units → vectors + code signals → Top 10 evidence → Top 3 reranked context → explainable response</a:t>
            </a:r>
          </a:p>
        </p:txBody>
      </p:sp>
      <p:sp>
        <p:nvSpPr>
          <p:cNvPr id="26" name="TextBox 25"/>
          <p:cNvSpPr txBox="1"/>
          <p:nvPr/>
        </p:nvSpPr>
        <p:spPr>
          <a:xfrm>
            <a:off x="822960" y="5074920"/>
            <a:ext cx="2194560" cy="274320"/>
          </a:xfrm>
          <a:prstGeom prst="rect">
            <a:avLst/>
          </a:prstGeom>
          <a:noFill/>
        </p:spPr>
        <p:txBody>
          <a:bodyPr wrap="square" anchor="t">
            <a:spAutoFit/>
          </a:bodyPr>
          <a:lstStyle/>
          <a:p>
            <a:pPr algn="l"/>
            <a:r>
              <a:rPr sz="1300" b="1">
                <a:solidFill>
                  <a:srgbClr val="DAA641"/>
                </a:solidFill>
                <a:latin typeface="Aptos"/>
              </a:rPr>
              <a:t>AST-based extraction</a:t>
            </a:r>
          </a:p>
        </p:txBody>
      </p:sp>
      <p:sp>
        <p:nvSpPr>
          <p:cNvPr id="27" name="TextBox 26"/>
          <p:cNvSpPr txBox="1"/>
          <p:nvPr/>
        </p:nvSpPr>
        <p:spPr>
          <a:xfrm>
            <a:off x="2788920" y="5047488"/>
            <a:ext cx="3383280" cy="320040"/>
          </a:xfrm>
          <a:prstGeom prst="rect">
            <a:avLst/>
          </a:prstGeom>
          <a:noFill/>
        </p:spPr>
        <p:txBody>
          <a:bodyPr wrap="square" anchor="t">
            <a:spAutoFit/>
          </a:bodyPr>
          <a:lstStyle/>
          <a:p>
            <a:pPr algn="l"/>
            <a:r>
              <a:rPr sz="1400" b="0">
                <a:solidFill>
                  <a:srgbClr val="1C1E22"/>
                </a:solidFill>
                <a:latin typeface="Aptos"/>
              </a:rPr>
              <a:t>5,698 code &amp; doc chunks stored in ChromaDB</a:t>
            </a:r>
          </a:p>
        </p:txBody>
      </p:sp>
      <p:sp>
        <p:nvSpPr>
          <p:cNvPr id="30" name="TextBox 29"/>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Grounded Answer Generation</a:t>
            </a:r>
          </a:p>
        </p:txBody>
      </p:sp>
      <p:sp>
        <p:nvSpPr>
          <p:cNvPr id="3" name="Rectangle 2"/>
          <p:cNvSpPr/>
          <p:nvPr/>
        </p:nvSpPr>
        <p:spPr>
          <a:xfrm>
            <a:off x="640080" y="932688"/>
            <a:ext cx="868680" cy="32004"/>
          </a:xfrm>
          <a:prstGeom prst="rect">
            <a:avLst/>
          </a:prstGeom>
          <a:solidFill>
            <a:srgbClr val="5F67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33271"/>
            <a:ext cx="10881360" cy="365760"/>
          </a:xfrm>
          <a:prstGeom prst="rect">
            <a:avLst/>
          </a:prstGeom>
          <a:noFill/>
        </p:spPr>
        <p:txBody>
          <a:bodyPr wrap="square" anchor="t">
            <a:spAutoFit/>
          </a:bodyPr>
          <a:lstStyle/>
          <a:p>
            <a:pPr algn="l"/>
            <a:r>
              <a:rPr sz="1250" b="0">
                <a:solidFill>
                  <a:srgbClr val="69707A"/>
                </a:solidFill>
                <a:latin typeface="Aptos"/>
              </a:rPr>
              <a:t>RAG pipeline: retrieve first, then generate from repository evidence</a:t>
            </a:r>
          </a:p>
        </p:txBody>
      </p:sp>
      <p:sp>
        <p:nvSpPr>
          <p:cNvPr id="5" name="Rounded Rectangle 4"/>
          <p:cNvSpPr/>
          <p:nvPr/>
        </p:nvSpPr>
        <p:spPr>
          <a:xfrm>
            <a:off x="594360" y="1508760"/>
            <a:ext cx="1920240" cy="914400"/>
          </a:xfrm>
          <a:prstGeom prst="roundRect">
            <a:avLst>
              <a:gd name="adj" fmla="val 8000"/>
            </a:avLst>
          </a:prstGeom>
          <a:solidFill>
            <a:srgbClr val="FFFFFF"/>
          </a:solidFill>
          <a:ln w="25400">
            <a:solidFill>
              <a:srgbClr val="E06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581912"/>
            <a:ext cx="1773936" cy="768096"/>
          </a:xfrm>
          <a:prstGeom prst="rect">
            <a:avLst/>
          </a:prstGeom>
          <a:noFill/>
        </p:spPr>
        <p:txBody>
          <a:bodyPr wrap="square" anchor="ctr">
            <a:spAutoFit/>
          </a:bodyPr>
          <a:lstStyle/>
          <a:p>
            <a:pPr algn="ctr"/>
            <a:r>
              <a:rPr sz="1300" b="1">
                <a:solidFill>
                  <a:srgbClr val="1C1E22"/>
                </a:solidFill>
                <a:latin typeface="Aptos"/>
              </a:rPr>
              <a:t>1. User Question</a:t>
            </a:r>
          </a:p>
        </p:txBody>
      </p:sp>
      <p:sp>
        <p:nvSpPr>
          <p:cNvPr id="7" name="Rounded Rectangle 6"/>
          <p:cNvSpPr/>
          <p:nvPr/>
        </p:nvSpPr>
        <p:spPr>
          <a:xfrm>
            <a:off x="2880360" y="1508760"/>
            <a:ext cx="1828800" cy="914400"/>
          </a:xfrm>
          <a:prstGeom prst="roundRect">
            <a:avLst>
              <a:gd name="adj" fmla="val 8000"/>
            </a:avLst>
          </a:prstGeom>
          <a:solidFill>
            <a:srgbClr val="FFFFFF"/>
          </a:solidFill>
          <a:ln w="25400">
            <a:solidFill>
              <a:srgbClr val="2A9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53512" y="1581912"/>
            <a:ext cx="1682496" cy="768096"/>
          </a:xfrm>
          <a:prstGeom prst="rect">
            <a:avLst/>
          </a:prstGeom>
          <a:noFill/>
        </p:spPr>
        <p:txBody>
          <a:bodyPr wrap="square" anchor="ctr">
            <a:spAutoFit/>
          </a:bodyPr>
          <a:lstStyle/>
          <a:p>
            <a:pPr algn="ctr"/>
            <a:r>
              <a:rPr sz="1300" b="1">
                <a:solidFill>
                  <a:srgbClr val="1C1E22"/>
                </a:solidFill>
                <a:latin typeface="Aptos"/>
              </a:rPr>
              <a:t>2. ChromaDB
Top 10</a:t>
            </a:r>
          </a:p>
        </p:txBody>
      </p:sp>
      <p:sp>
        <p:nvSpPr>
          <p:cNvPr id="9" name="Rounded Rectangle 8"/>
          <p:cNvSpPr/>
          <p:nvPr/>
        </p:nvSpPr>
        <p:spPr>
          <a:xfrm>
            <a:off x="5074920" y="1508760"/>
            <a:ext cx="1965960" cy="914400"/>
          </a:xfrm>
          <a:prstGeom prst="roundRect">
            <a:avLst>
              <a:gd name="adj" fmla="val 8000"/>
            </a:avLst>
          </a:prstGeom>
          <a:solidFill>
            <a:srgbClr val="FFFFFF"/>
          </a:solidFill>
          <a:ln w="25400">
            <a:solidFill>
              <a:srgbClr val="845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48072" y="1581912"/>
            <a:ext cx="1819656" cy="768096"/>
          </a:xfrm>
          <a:prstGeom prst="rect">
            <a:avLst/>
          </a:prstGeom>
          <a:noFill/>
        </p:spPr>
        <p:txBody>
          <a:bodyPr wrap="square" anchor="ctr">
            <a:spAutoFit/>
          </a:bodyPr>
          <a:lstStyle/>
          <a:p>
            <a:pPr algn="ctr"/>
            <a:r>
              <a:rPr sz="1300" b="1">
                <a:solidFill>
                  <a:srgbClr val="1C1E22"/>
                </a:solidFill>
                <a:latin typeface="Aptos"/>
              </a:rPr>
              <a:t>3. Groq / Qwen
Re-ranking</a:t>
            </a:r>
          </a:p>
        </p:txBody>
      </p:sp>
      <p:sp>
        <p:nvSpPr>
          <p:cNvPr id="11" name="Rounded Rectangle 10"/>
          <p:cNvSpPr/>
          <p:nvPr/>
        </p:nvSpPr>
        <p:spPr>
          <a:xfrm>
            <a:off x="7406640" y="1508760"/>
            <a:ext cx="1691640" cy="914400"/>
          </a:xfrm>
          <a:prstGeom prst="roundRect">
            <a:avLst>
              <a:gd name="adj" fmla="val 8000"/>
            </a:avLst>
          </a:prstGeom>
          <a:solidFill>
            <a:srgbClr val="FFFFFF"/>
          </a:solidFill>
          <a:ln w="25400">
            <a:solidFill>
              <a:srgbClr val="509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79792" y="1581912"/>
            <a:ext cx="1545336" cy="768096"/>
          </a:xfrm>
          <a:prstGeom prst="rect">
            <a:avLst/>
          </a:prstGeom>
          <a:noFill/>
        </p:spPr>
        <p:txBody>
          <a:bodyPr wrap="square" anchor="ctr">
            <a:spAutoFit/>
          </a:bodyPr>
          <a:lstStyle/>
          <a:p>
            <a:pPr algn="ctr"/>
            <a:r>
              <a:rPr sz="1300" b="1">
                <a:solidFill>
                  <a:srgbClr val="1C1E22"/>
                </a:solidFill>
                <a:latin typeface="Aptos"/>
              </a:rPr>
              <a:t>4. Top 3
Evidence</a:t>
            </a:r>
          </a:p>
        </p:txBody>
      </p:sp>
      <p:sp>
        <p:nvSpPr>
          <p:cNvPr id="13" name="Rounded Rectangle 12"/>
          <p:cNvSpPr/>
          <p:nvPr/>
        </p:nvSpPr>
        <p:spPr>
          <a:xfrm>
            <a:off x="9464040" y="1508760"/>
            <a:ext cx="2057400" cy="914400"/>
          </a:xfrm>
          <a:prstGeom prst="roundRect">
            <a:avLst>
              <a:gd name="adj" fmla="val 8000"/>
            </a:avLst>
          </a:prstGeom>
          <a:solidFill>
            <a:srgbClr val="FFFFFF"/>
          </a:solidFill>
          <a:ln w="25400">
            <a:solidFill>
              <a:srgbClr val="845B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37192" y="1581912"/>
            <a:ext cx="1911095" cy="768096"/>
          </a:xfrm>
          <a:prstGeom prst="rect">
            <a:avLst/>
          </a:prstGeom>
          <a:noFill/>
        </p:spPr>
        <p:txBody>
          <a:bodyPr wrap="square" anchor="ctr">
            <a:spAutoFit/>
          </a:bodyPr>
          <a:lstStyle/>
          <a:p>
            <a:pPr algn="ctr"/>
            <a:r>
              <a:rPr sz="1300" b="1">
                <a:solidFill>
                  <a:srgbClr val="1C1E22"/>
                </a:solidFill>
                <a:latin typeface="Aptos"/>
              </a:rPr>
              <a:t>5. Final LLM
Generation</a:t>
            </a:r>
          </a:p>
        </p:txBody>
      </p:sp>
      <p:cxnSp>
        <p:nvCxnSpPr>
          <p:cNvPr id="15" name="Connector 14"/>
          <p:cNvCxnSpPr/>
          <p:nvPr/>
        </p:nvCxnSpPr>
        <p:spPr>
          <a:xfrm>
            <a:off x="2514600" y="1965960"/>
            <a:ext cx="3657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09160" y="1965960"/>
            <a:ext cx="3657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040879" y="1965960"/>
            <a:ext cx="365761"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098280" y="1965960"/>
            <a:ext cx="365760" cy="0"/>
          </a:xfrm>
          <a:prstGeom prst="line">
            <a:avLst/>
          </a:prstGeom>
          <a:ln w="19050">
            <a:solidFill>
              <a:srgbClr val="373C4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1520" y="3063240"/>
            <a:ext cx="3383280" cy="22402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3383280"/>
            <a:ext cx="2743200" cy="274320"/>
          </a:xfrm>
          <a:prstGeom prst="rect">
            <a:avLst/>
          </a:prstGeom>
          <a:noFill/>
        </p:spPr>
        <p:txBody>
          <a:bodyPr wrap="square" anchor="t">
            <a:spAutoFit/>
          </a:bodyPr>
          <a:lstStyle/>
          <a:p>
            <a:pPr algn="l"/>
            <a:r>
              <a:rPr sz="1300" b="1">
                <a:solidFill>
                  <a:srgbClr val="1C1E22"/>
                </a:solidFill>
                <a:latin typeface="Aptos"/>
              </a:rPr>
              <a:t>WHAT THE LLM RETURNS</a:t>
            </a:r>
          </a:p>
        </p:txBody>
      </p:sp>
      <p:sp>
        <p:nvSpPr>
          <p:cNvPr id="21" name="TextBox 20"/>
          <p:cNvSpPr txBox="1"/>
          <p:nvPr/>
        </p:nvSpPr>
        <p:spPr>
          <a:xfrm>
            <a:off x="1005840" y="3794760"/>
            <a:ext cx="2743200" cy="1234440"/>
          </a:xfrm>
          <a:prstGeom prst="rect">
            <a:avLst/>
          </a:prstGeom>
          <a:noFill/>
        </p:spPr>
        <p:txBody>
          <a:bodyPr wrap="square" anchor="t">
            <a:spAutoFit/>
          </a:bodyPr>
          <a:lstStyle/>
          <a:p>
            <a:pPr algn="l"/>
            <a:r>
              <a:rPr sz="1500" b="0">
                <a:solidFill>
                  <a:srgbClr val="373C44"/>
                </a:solidFill>
                <a:latin typeface="Aptos"/>
              </a:rPr>
              <a:t>• Simple Summary
• Technical Details
• Mermaid.js diagram code</a:t>
            </a:r>
          </a:p>
        </p:txBody>
      </p:sp>
      <p:sp>
        <p:nvSpPr>
          <p:cNvPr id="22" name="Rounded Rectangle 21"/>
          <p:cNvSpPr/>
          <p:nvPr/>
        </p:nvSpPr>
        <p:spPr>
          <a:xfrm>
            <a:off x="4389120" y="3063240"/>
            <a:ext cx="3383280" cy="22402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3383280"/>
            <a:ext cx="2743200" cy="274320"/>
          </a:xfrm>
          <a:prstGeom prst="rect">
            <a:avLst/>
          </a:prstGeom>
          <a:noFill/>
        </p:spPr>
        <p:txBody>
          <a:bodyPr wrap="square" anchor="t">
            <a:spAutoFit/>
          </a:bodyPr>
          <a:lstStyle/>
          <a:p>
            <a:pPr algn="l"/>
            <a:r>
              <a:rPr sz="1300" b="1">
                <a:solidFill>
                  <a:srgbClr val="1C1E22"/>
                </a:solidFill>
                <a:latin typeface="Aptos"/>
              </a:rPr>
              <a:t>WHY IT IS GROUNDED</a:t>
            </a:r>
          </a:p>
        </p:txBody>
      </p:sp>
      <p:sp>
        <p:nvSpPr>
          <p:cNvPr id="24" name="TextBox 23"/>
          <p:cNvSpPr txBox="1"/>
          <p:nvPr/>
        </p:nvSpPr>
        <p:spPr>
          <a:xfrm>
            <a:off x="4663440" y="3794760"/>
            <a:ext cx="2788920" cy="1143000"/>
          </a:xfrm>
          <a:prstGeom prst="rect">
            <a:avLst/>
          </a:prstGeom>
          <a:noFill/>
        </p:spPr>
        <p:txBody>
          <a:bodyPr wrap="square" anchor="t">
            <a:spAutoFit/>
          </a:bodyPr>
          <a:lstStyle/>
          <a:p>
            <a:pPr algn="l"/>
            <a:r>
              <a:rPr sz="1500" b="0">
                <a:solidFill>
                  <a:srgbClr val="373C44"/>
                </a:solidFill>
                <a:latin typeface="Aptos"/>
              </a:rPr>
              <a:t>The final answer is generated from retrieved Ushahidi source-code context rather than relying only on general model knowledge.</a:t>
            </a:r>
          </a:p>
        </p:txBody>
      </p:sp>
      <p:sp>
        <p:nvSpPr>
          <p:cNvPr id="25" name="Rounded Rectangle 24"/>
          <p:cNvSpPr/>
          <p:nvPr/>
        </p:nvSpPr>
        <p:spPr>
          <a:xfrm>
            <a:off x="8046720" y="3063240"/>
            <a:ext cx="3383280" cy="22402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40" y="3383280"/>
            <a:ext cx="2743200" cy="274320"/>
          </a:xfrm>
          <a:prstGeom prst="rect">
            <a:avLst/>
          </a:prstGeom>
          <a:noFill/>
        </p:spPr>
        <p:txBody>
          <a:bodyPr wrap="square" anchor="t">
            <a:spAutoFit/>
          </a:bodyPr>
          <a:lstStyle/>
          <a:p>
            <a:pPr algn="l"/>
            <a:r>
              <a:rPr sz="1300" b="1">
                <a:solidFill>
                  <a:srgbClr val="1C1E22"/>
                </a:solidFill>
                <a:latin typeface="Aptos"/>
              </a:rPr>
              <a:t>EVIDENCE SHOWN</a:t>
            </a:r>
          </a:p>
        </p:txBody>
      </p:sp>
      <p:sp>
        <p:nvSpPr>
          <p:cNvPr id="27" name="TextBox 26"/>
          <p:cNvSpPr txBox="1"/>
          <p:nvPr/>
        </p:nvSpPr>
        <p:spPr>
          <a:xfrm>
            <a:off x="8321040" y="3794760"/>
            <a:ext cx="2743200" cy="1234440"/>
          </a:xfrm>
          <a:prstGeom prst="rect">
            <a:avLst/>
          </a:prstGeom>
          <a:noFill/>
        </p:spPr>
        <p:txBody>
          <a:bodyPr wrap="square" anchor="t">
            <a:spAutoFit/>
          </a:bodyPr>
          <a:lstStyle/>
          <a:p>
            <a:pPr algn="l"/>
            <a:r>
              <a:rPr sz="1500" b="0">
                <a:solidFill>
                  <a:srgbClr val="373C44"/>
                </a:solidFill>
                <a:latin typeface="Aptos"/>
              </a:rPr>
              <a:t>• Exact source files
• Retrieved code context
• Visual relationship / flow</a:t>
            </a:r>
          </a:p>
        </p:txBody>
      </p:sp>
      <p:sp>
        <p:nvSpPr>
          <p:cNvPr id="28" name="TextBox 27"/>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User Interface</a:t>
            </a:r>
          </a:p>
        </p:txBody>
      </p:sp>
      <p:sp>
        <p:nvSpPr>
          <p:cNvPr id="3" name="Rectangle 2"/>
          <p:cNvSpPr/>
          <p:nvPr/>
        </p:nvSpPr>
        <p:spPr>
          <a:xfrm>
            <a:off x="640080" y="932688"/>
            <a:ext cx="868680" cy="32004"/>
          </a:xfrm>
          <a:prstGeom prst="rect">
            <a:avLst/>
          </a:prstGeom>
          <a:solidFill>
            <a:srgbClr val="B55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33271"/>
            <a:ext cx="10881360" cy="365760"/>
          </a:xfrm>
          <a:prstGeom prst="rect">
            <a:avLst/>
          </a:prstGeom>
          <a:noFill/>
        </p:spPr>
        <p:txBody>
          <a:bodyPr wrap="square" anchor="t">
            <a:spAutoFit/>
          </a:bodyPr>
          <a:lstStyle/>
          <a:p>
            <a:pPr algn="l"/>
            <a:r>
              <a:rPr sz="1250" b="0">
                <a:solidFill>
                  <a:srgbClr val="69707A"/>
                </a:solidFill>
                <a:latin typeface="Aptos"/>
              </a:rPr>
              <a:t>Chat interface • AI answer • source evidence • Mermaid visualization</a:t>
            </a:r>
          </a:p>
        </p:txBody>
      </p:sp>
      <p:pic>
        <p:nvPicPr>
          <p:cNvPr id="7" name="Picture 6" descr="ui-home.png"/>
          <p:cNvPicPr>
            <a:picLocks noChangeAspect="1"/>
          </p:cNvPicPr>
          <p:nvPr/>
        </p:nvPicPr>
        <p:blipFill>
          <a:blip r:embed="rId3"/>
          <a:stretch>
            <a:fillRect/>
          </a:stretch>
        </p:blipFill>
        <p:spPr>
          <a:xfrm>
            <a:off x="2077171" y="1508760"/>
            <a:ext cx="8007178" cy="4526280"/>
          </a:xfrm>
          <a:prstGeom prst="rect">
            <a:avLst/>
          </a:prstGeom>
        </p:spPr>
      </p:pic>
      <p:sp>
        <p:nvSpPr>
          <p:cNvPr id="6" name="TextBox 5"/>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Experiments &amp; Evaluation</a:t>
            </a:r>
          </a:p>
        </p:txBody>
      </p:sp>
      <p:sp>
        <p:nvSpPr>
          <p:cNvPr id="3" name="Rectangle 2"/>
          <p:cNvSpPr/>
          <p:nvPr/>
        </p:nvSpPr>
        <p:spPr>
          <a:xfrm>
            <a:off x="640080" y="932688"/>
            <a:ext cx="868680" cy="32004"/>
          </a:xfrm>
          <a:prstGeom prst="rect">
            <a:avLst/>
          </a:prstGeom>
          <a:solidFill>
            <a:srgbClr val="DD8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33271"/>
            <a:ext cx="10881360" cy="320040"/>
          </a:xfrm>
          <a:prstGeom prst="rect">
            <a:avLst/>
          </a:prstGeom>
          <a:noFill/>
        </p:spPr>
        <p:txBody>
          <a:bodyPr wrap="square" anchor="t">
            <a:spAutoFit/>
          </a:bodyPr>
          <a:lstStyle/>
          <a:p>
            <a:pPr algn="l"/>
            <a:r>
              <a:rPr sz="1250" b="0">
                <a:solidFill>
                  <a:srgbClr val="69707A"/>
                </a:solidFill>
                <a:latin typeface="Aptos"/>
              </a:rPr>
              <a:t>33-query benchmark aligned with the research question</a:t>
            </a:r>
          </a:p>
        </p:txBody>
      </p:sp>
      <p:sp>
        <p:nvSpPr>
          <p:cNvPr id="5" name="TextBox 4"/>
          <p:cNvSpPr txBox="1"/>
          <p:nvPr/>
        </p:nvSpPr>
        <p:spPr>
          <a:xfrm>
            <a:off x="777240" y="1417320"/>
            <a:ext cx="2011680" cy="320040"/>
          </a:xfrm>
          <a:prstGeom prst="rect">
            <a:avLst/>
          </a:prstGeom>
          <a:noFill/>
        </p:spPr>
        <p:txBody>
          <a:bodyPr wrap="square" anchor="t">
            <a:spAutoFit/>
          </a:bodyPr>
          <a:lstStyle/>
          <a:p>
            <a:pPr algn="l"/>
            <a:r>
              <a:rPr sz="1500" b="1">
                <a:solidFill>
                  <a:srgbClr val="1C1E22"/>
                </a:solidFill>
                <a:latin typeface="Aptos"/>
              </a:rPr>
              <a:t>Dataset</a:t>
            </a:r>
          </a:p>
        </p:txBody>
      </p:sp>
      <p:sp>
        <p:nvSpPr>
          <p:cNvPr id="6" name="TextBox 5"/>
          <p:cNvSpPr txBox="1"/>
          <p:nvPr/>
        </p:nvSpPr>
        <p:spPr>
          <a:xfrm>
            <a:off x="2743200" y="1399032"/>
            <a:ext cx="8412480" cy="658368"/>
          </a:xfrm>
          <a:prstGeom prst="rect">
            <a:avLst/>
          </a:prstGeom>
          <a:noFill/>
        </p:spPr>
        <p:txBody>
          <a:bodyPr wrap="square" anchor="t">
            <a:spAutoFit/>
          </a:bodyPr>
          <a:lstStyle/>
          <a:p>
            <a:pPr algn="l"/>
            <a:r>
              <a:rPr sz="1550" b="0">
                <a:solidFill>
                  <a:srgbClr val="373C44"/>
                </a:solidFill>
                <a:latin typeface="Aptos"/>
              </a:rPr>
              <a:t>33 repository-specific developer questions covering contracts, implementations, permissions, use cases and entity-loading behaviour.</a:t>
            </a:r>
          </a:p>
        </p:txBody>
      </p:sp>
      <p:sp>
        <p:nvSpPr>
          <p:cNvPr id="7" name="Rectangle 6"/>
          <p:cNvSpPr/>
          <p:nvPr/>
        </p:nvSpPr>
        <p:spPr>
          <a:xfrm>
            <a:off x="777240" y="2167128"/>
            <a:ext cx="1051560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441448"/>
            <a:ext cx="2011680" cy="320040"/>
          </a:xfrm>
          <a:prstGeom prst="rect">
            <a:avLst/>
          </a:prstGeom>
          <a:noFill/>
        </p:spPr>
        <p:txBody>
          <a:bodyPr wrap="square" anchor="t">
            <a:spAutoFit/>
          </a:bodyPr>
          <a:lstStyle/>
          <a:p>
            <a:pPr algn="l"/>
            <a:r>
              <a:rPr sz="1500" b="1">
                <a:solidFill>
                  <a:srgbClr val="1C1E22"/>
                </a:solidFill>
                <a:latin typeface="Aptos"/>
              </a:rPr>
              <a:t>Baseline</a:t>
            </a:r>
          </a:p>
        </p:txBody>
      </p:sp>
      <p:sp>
        <p:nvSpPr>
          <p:cNvPr id="9" name="TextBox 8"/>
          <p:cNvSpPr txBox="1"/>
          <p:nvPr/>
        </p:nvSpPr>
        <p:spPr>
          <a:xfrm>
            <a:off x="2743200" y="2423160"/>
            <a:ext cx="8412480" cy="658368"/>
          </a:xfrm>
          <a:prstGeom prst="rect">
            <a:avLst/>
          </a:prstGeom>
          <a:noFill/>
        </p:spPr>
        <p:txBody>
          <a:bodyPr wrap="square" anchor="t">
            <a:spAutoFit/>
          </a:bodyPr>
          <a:lstStyle/>
          <a:p>
            <a:pPr algn="l"/>
            <a:r>
              <a:rPr sz="1550" b="0">
                <a:solidFill>
                  <a:srgbClr val="373C44"/>
                </a:solidFill>
                <a:latin typeface="Aptos"/>
              </a:rPr>
              <a:t>Semantic / hybrid retrieval ranking before LLM reranking.</a:t>
            </a:r>
          </a:p>
        </p:txBody>
      </p:sp>
      <p:sp>
        <p:nvSpPr>
          <p:cNvPr id="10" name="Rectangle 9"/>
          <p:cNvSpPr/>
          <p:nvPr/>
        </p:nvSpPr>
        <p:spPr>
          <a:xfrm>
            <a:off x="777240" y="3191256"/>
            <a:ext cx="1051560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465576"/>
            <a:ext cx="2011680" cy="320040"/>
          </a:xfrm>
          <a:prstGeom prst="rect">
            <a:avLst/>
          </a:prstGeom>
          <a:noFill/>
        </p:spPr>
        <p:txBody>
          <a:bodyPr wrap="square" anchor="t">
            <a:spAutoFit/>
          </a:bodyPr>
          <a:lstStyle/>
          <a:p>
            <a:pPr algn="l"/>
            <a:r>
              <a:rPr sz="1500" b="1">
                <a:solidFill>
                  <a:srgbClr val="1C1E22"/>
                </a:solidFill>
                <a:latin typeface="Aptos"/>
              </a:rPr>
              <a:t>Proposed</a:t>
            </a:r>
          </a:p>
        </p:txBody>
      </p:sp>
      <p:sp>
        <p:nvSpPr>
          <p:cNvPr id="12" name="TextBox 11"/>
          <p:cNvSpPr txBox="1"/>
          <p:nvPr/>
        </p:nvSpPr>
        <p:spPr>
          <a:xfrm>
            <a:off x="2743200" y="3447288"/>
            <a:ext cx="8412480" cy="658368"/>
          </a:xfrm>
          <a:prstGeom prst="rect">
            <a:avLst/>
          </a:prstGeom>
          <a:noFill/>
        </p:spPr>
        <p:txBody>
          <a:bodyPr wrap="square" anchor="t">
            <a:spAutoFit/>
          </a:bodyPr>
          <a:lstStyle/>
          <a:p>
            <a:pPr algn="l"/>
            <a:r>
              <a:rPr sz="1550" b="0">
                <a:solidFill>
                  <a:srgbClr val="373C44"/>
                </a:solidFill>
                <a:latin typeface="Aptos"/>
              </a:rPr>
              <a:t>Same Top 10 candidates passed to Groq/Qwen for strict reranking to Top 3.</a:t>
            </a:r>
          </a:p>
        </p:txBody>
      </p:sp>
      <p:sp>
        <p:nvSpPr>
          <p:cNvPr id="13" name="Rectangle 12"/>
          <p:cNvSpPr/>
          <p:nvPr/>
        </p:nvSpPr>
        <p:spPr>
          <a:xfrm>
            <a:off x="777240" y="4215384"/>
            <a:ext cx="1051560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4489704"/>
            <a:ext cx="2011680" cy="320040"/>
          </a:xfrm>
          <a:prstGeom prst="rect">
            <a:avLst/>
          </a:prstGeom>
          <a:noFill/>
        </p:spPr>
        <p:txBody>
          <a:bodyPr wrap="square" anchor="t">
            <a:spAutoFit/>
          </a:bodyPr>
          <a:lstStyle/>
          <a:p>
            <a:pPr algn="l"/>
            <a:r>
              <a:rPr sz="1500" b="1">
                <a:solidFill>
                  <a:srgbClr val="1C1E22"/>
                </a:solidFill>
                <a:latin typeface="Aptos"/>
              </a:rPr>
              <a:t>Metrics</a:t>
            </a:r>
          </a:p>
        </p:txBody>
      </p:sp>
      <p:sp>
        <p:nvSpPr>
          <p:cNvPr id="15" name="TextBox 14"/>
          <p:cNvSpPr txBox="1"/>
          <p:nvPr/>
        </p:nvSpPr>
        <p:spPr>
          <a:xfrm>
            <a:off x="2743200" y="4471416"/>
            <a:ext cx="8412480" cy="658368"/>
          </a:xfrm>
          <a:prstGeom prst="rect">
            <a:avLst/>
          </a:prstGeom>
          <a:noFill/>
        </p:spPr>
        <p:txBody>
          <a:bodyPr wrap="square" anchor="t">
            <a:spAutoFit/>
          </a:bodyPr>
          <a:lstStyle/>
          <a:p>
            <a:pPr algn="l"/>
            <a:r>
              <a:rPr sz="1550" b="0">
                <a:solidFill>
                  <a:srgbClr val="373C44"/>
                </a:solidFill>
                <a:latin typeface="Aptos"/>
              </a:rPr>
              <a:t>Mean Reciprocal Rank (MRR) and Top-1 Accuracy.</a:t>
            </a:r>
          </a:p>
        </p:txBody>
      </p:sp>
      <p:sp>
        <p:nvSpPr>
          <p:cNvPr id="16" name="Rectangle 15"/>
          <p:cNvSpPr/>
          <p:nvPr/>
        </p:nvSpPr>
        <p:spPr>
          <a:xfrm>
            <a:off x="777240" y="5239512"/>
            <a:ext cx="10515600" cy="9144"/>
          </a:xfrm>
          <a:prstGeom prst="rect">
            <a:avLst/>
          </a:prstGeom>
          <a:solidFill>
            <a:srgbClr val="D7DA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577840"/>
            <a:ext cx="10149840" cy="365760"/>
          </a:xfrm>
          <a:prstGeom prst="rect">
            <a:avLst/>
          </a:prstGeom>
          <a:noFill/>
        </p:spPr>
        <p:txBody>
          <a:bodyPr wrap="square" anchor="t">
            <a:spAutoFit/>
          </a:bodyPr>
          <a:lstStyle/>
          <a:p>
            <a:pPr algn="ctr"/>
            <a:r>
              <a:rPr sz="1400" b="1">
                <a:solidFill>
                  <a:srgbClr val="DD8037"/>
                </a:solidFill>
                <a:latin typeface="Aptos"/>
              </a:rPr>
              <a:t>Experimental question: does LLM reranking move the correct implementation closer to rank #1?</a:t>
            </a:r>
          </a:p>
        </p:txBody>
      </p:sp>
      <p:sp>
        <p:nvSpPr>
          <p:cNvPr id="18" name="TextBox 17"/>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Quantitative Results</a:t>
            </a:r>
          </a:p>
        </p:txBody>
      </p:sp>
      <p:sp>
        <p:nvSpPr>
          <p:cNvPr id="3" name="Rectangle 2"/>
          <p:cNvSpPr/>
          <p:nvPr/>
        </p:nvSpPr>
        <p:spPr>
          <a:xfrm>
            <a:off x="640080" y="932688"/>
            <a:ext cx="868680" cy="32004"/>
          </a:xfrm>
          <a:prstGeom prst="rect">
            <a:avLst/>
          </a:prstGeom>
          <a:solidFill>
            <a:srgbClr val="509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33271"/>
            <a:ext cx="10881360" cy="365760"/>
          </a:xfrm>
          <a:prstGeom prst="rect">
            <a:avLst/>
          </a:prstGeom>
          <a:noFill/>
        </p:spPr>
        <p:txBody>
          <a:bodyPr wrap="square" anchor="t">
            <a:spAutoFit/>
          </a:bodyPr>
          <a:lstStyle/>
          <a:p>
            <a:pPr algn="l"/>
            <a:r>
              <a:rPr sz="1250" b="0">
                <a:solidFill>
                  <a:srgbClr val="69707A"/>
                </a:solidFill>
                <a:latin typeface="Aptos"/>
              </a:rPr>
              <a:t>33 queries • baseline vs. LLM-reranked retrieval</a:t>
            </a:r>
          </a:p>
        </p:txBody>
      </p:sp>
      <p:sp>
        <p:nvSpPr>
          <p:cNvPr id="5" name="Rounded Rectangle 4"/>
          <p:cNvSpPr/>
          <p:nvPr/>
        </p:nvSpPr>
        <p:spPr>
          <a:xfrm>
            <a:off x="822960" y="1508760"/>
            <a:ext cx="5074920" cy="2148840"/>
          </a:xfrm>
          <a:prstGeom prst="roundRect">
            <a:avLst>
              <a:gd name="adj" fmla="val 8000"/>
            </a:avLst>
          </a:prstGeom>
          <a:solidFill>
            <a:srgbClr val="FFFFFF"/>
          </a:solidFill>
          <a:ln w="25400">
            <a:solidFill>
              <a:srgbClr val="509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783080"/>
            <a:ext cx="2194560" cy="274320"/>
          </a:xfrm>
          <a:prstGeom prst="rect">
            <a:avLst/>
          </a:prstGeom>
          <a:noFill/>
        </p:spPr>
        <p:txBody>
          <a:bodyPr wrap="square" anchor="t">
            <a:spAutoFit/>
          </a:bodyPr>
          <a:lstStyle/>
          <a:p>
            <a:pPr algn="l"/>
            <a:r>
              <a:rPr sz="1400" b="1">
                <a:solidFill>
                  <a:srgbClr val="69707A"/>
                </a:solidFill>
                <a:latin typeface="Aptos"/>
              </a:rPr>
              <a:t>MRR</a:t>
            </a:r>
          </a:p>
        </p:txBody>
      </p:sp>
      <p:sp>
        <p:nvSpPr>
          <p:cNvPr id="7" name="TextBox 6"/>
          <p:cNvSpPr txBox="1"/>
          <p:nvPr/>
        </p:nvSpPr>
        <p:spPr>
          <a:xfrm>
            <a:off x="1097280" y="2240280"/>
            <a:ext cx="1828800" cy="502920"/>
          </a:xfrm>
          <a:prstGeom prst="rect">
            <a:avLst/>
          </a:prstGeom>
          <a:noFill/>
        </p:spPr>
        <p:txBody>
          <a:bodyPr wrap="square" anchor="t">
            <a:spAutoFit/>
          </a:bodyPr>
          <a:lstStyle/>
          <a:p>
            <a:pPr algn="l"/>
            <a:r>
              <a:rPr sz="2400" b="1">
                <a:solidFill>
                  <a:srgbClr val="373C44"/>
                </a:solidFill>
                <a:latin typeface="Aptos"/>
              </a:rPr>
              <a:t>0.6135</a:t>
            </a:r>
          </a:p>
        </p:txBody>
      </p:sp>
      <p:sp>
        <p:nvSpPr>
          <p:cNvPr id="8" name="TextBox 7"/>
          <p:cNvSpPr txBox="1"/>
          <p:nvPr/>
        </p:nvSpPr>
        <p:spPr>
          <a:xfrm>
            <a:off x="1097280" y="2788920"/>
            <a:ext cx="1188720" cy="228600"/>
          </a:xfrm>
          <a:prstGeom prst="rect">
            <a:avLst/>
          </a:prstGeom>
          <a:noFill/>
        </p:spPr>
        <p:txBody>
          <a:bodyPr wrap="square" anchor="t">
            <a:spAutoFit/>
          </a:bodyPr>
          <a:lstStyle/>
          <a:p>
            <a:pPr algn="l"/>
            <a:r>
              <a:rPr sz="1100" b="0">
                <a:solidFill>
                  <a:srgbClr val="69707A"/>
                </a:solidFill>
                <a:latin typeface="Aptos"/>
              </a:rPr>
              <a:t>Baseline</a:t>
            </a:r>
          </a:p>
        </p:txBody>
      </p:sp>
      <p:sp>
        <p:nvSpPr>
          <p:cNvPr id="9" name="TextBox 8"/>
          <p:cNvSpPr txBox="1"/>
          <p:nvPr/>
        </p:nvSpPr>
        <p:spPr>
          <a:xfrm>
            <a:off x="3108960" y="2240280"/>
            <a:ext cx="2011680" cy="502920"/>
          </a:xfrm>
          <a:prstGeom prst="rect">
            <a:avLst/>
          </a:prstGeom>
          <a:noFill/>
        </p:spPr>
        <p:txBody>
          <a:bodyPr wrap="square" anchor="t">
            <a:spAutoFit/>
          </a:bodyPr>
          <a:lstStyle/>
          <a:p>
            <a:pPr algn="l"/>
            <a:r>
              <a:rPr sz="2400" b="1">
                <a:solidFill>
                  <a:srgbClr val="1C1E22"/>
                </a:solidFill>
                <a:latin typeface="Aptos"/>
              </a:rPr>
              <a:t>0.8026</a:t>
            </a:r>
          </a:p>
        </p:txBody>
      </p:sp>
      <p:sp>
        <p:nvSpPr>
          <p:cNvPr id="10" name="TextBox 9"/>
          <p:cNvSpPr txBox="1"/>
          <p:nvPr/>
        </p:nvSpPr>
        <p:spPr>
          <a:xfrm>
            <a:off x="3108960" y="2788920"/>
            <a:ext cx="1371600" cy="228600"/>
          </a:xfrm>
          <a:prstGeom prst="rect">
            <a:avLst/>
          </a:prstGeom>
          <a:noFill/>
        </p:spPr>
        <p:txBody>
          <a:bodyPr wrap="square" anchor="t">
            <a:spAutoFit/>
          </a:bodyPr>
          <a:lstStyle/>
          <a:p>
            <a:pPr algn="l"/>
            <a:r>
              <a:rPr sz="1100" b="0">
                <a:solidFill>
                  <a:srgbClr val="69707A"/>
                </a:solidFill>
                <a:latin typeface="Aptos"/>
              </a:rPr>
              <a:t>Proposed</a:t>
            </a:r>
          </a:p>
        </p:txBody>
      </p:sp>
      <p:sp>
        <p:nvSpPr>
          <p:cNvPr id="11" name="TextBox 10"/>
          <p:cNvSpPr txBox="1"/>
          <p:nvPr/>
        </p:nvSpPr>
        <p:spPr>
          <a:xfrm>
            <a:off x="1097280" y="3182112"/>
            <a:ext cx="4389120" cy="274320"/>
          </a:xfrm>
          <a:prstGeom prst="rect">
            <a:avLst/>
          </a:prstGeom>
          <a:noFill/>
        </p:spPr>
        <p:txBody>
          <a:bodyPr wrap="square" anchor="t">
            <a:spAutoFit/>
          </a:bodyPr>
          <a:lstStyle/>
          <a:p>
            <a:pPr algn="l"/>
            <a:r>
              <a:rPr sz="1400" b="1">
                <a:solidFill>
                  <a:srgbClr val="50965B"/>
                </a:solidFill>
                <a:latin typeface="Aptos"/>
              </a:rPr>
              <a:t>+0.1891</a:t>
            </a:r>
          </a:p>
        </p:txBody>
      </p:sp>
      <p:sp>
        <p:nvSpPr>
          <p:cNvPr id="12" name="Rounded Rectangle 11"/>
          <p:cNvSpPr/>
          <p:nvPr/>
        </p:nvSpPr>
        <p:spPr>
          <a:xfrm>
            <a:off x="6217920" y="1508760"/>
            <a:ext cx="5074920" cy="2148840"/>
          </a:xfrm>
          <a:prstGeom prst="roundRect">
            <a:avLst>
              <a:gd name="adj" fmla="val 8000"/>
            </a:avLst>
          </a:prstGeom>
          <a:solidFill>
            <a:srgbClr val="FFFFFF"/>
          </a:solidFill>
          <a:ln w="25400">
            <a:solidFill>
              <a:srgbClr val="509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783080"/>
            <a:ext cx="2194560" cy="274320"/>
          </a:xfrm>
          <a:prstGeom prst="rect">
            <a:avLst/>
          </a:prstGeom>
          <a:noFill/>
        </p:spPr>
        <p:txBody>
          <a:bodyPr wrap="square" anchor="t">
            <a:spAutoFit/>
          </a:bodyPr>
          <a:lstStyle/>
          <a:p>
            <a:pPr algn="l"/>
            <a:r>
              <a:rPr sz="1400" b="1">
                <a:solidFill>
                  <a:srgbClr val="69707A"/>
                </a:solidFill>
                <a:latin typeface="Aptos"/>
              </a:rPr>
              <a:t>Top-1 Accuracy</a:t>
            </a:r>
          </a:p>
        </p:txBody>
      </p:sp>
      <p:sp>
        <p:nvSpPr>
          <p:cNvPr id="14" name="TextBox 13"/>
          <p:cNvSpPr txBox="1"/>
          <p:nvPr/>
        </p:nvSpPr>
        <p:spPr>
          <a:xfrm>
            <a:off x="6492240" y="2240280"/>
            <a:ext cx="1828800" cy="502920"/>
          </a:xfrm>
          <a:prstGeom prst="rect">
            <a:avLst/>
          </a:prstGeom>
          <a:noFill/>
        </p:spPr>
        <p:txBody>
          <a:bodyPr wrap="square" anchor="t">
            <a:spAutoFit/>
          </a:bodyPr>
          <a:lstStyle/>
          <a:p>
            <a:pPr algn="l"/>
            <a:r>
              <a:rPr sz="2400" b="1">
                <a:solidFill>
                  <a:srgbClr val="373C44"/>
                </a:solidFill>
                <a:latin typeface="Aptos"/>
              </a:rPr>
              <a:t>51.52%</a:t>
            </a:r>
          </a:p>
        </p:txBody>
      </p:sp>
      <p:sp>
        <p:nvSpPr>
          <p:cNvPr id="15" name="TextBox 14"/>
          <p:cNvSpPr txBox="1"/>
          <p:nvPr/>
        </p:nvSpPr>
        <p:spPr>
          <a:xfrm>
            <a:off x="6492240" y="2788920"/>
            <a:ext cx="1188720" cy="228600"/>
          </a:xfrm>
          <a:prstGeom prst="rect">
            <a:avLst/>
          </a:prstGeom>
          <a:noFill/>
        </p:spPr>
        <p:txBody>
          <a:bodyPr wrap="square" anchor="t">
            <a:spAutoFit/>
          </a:bodyPr>
          <a:lstStyle/>
          <a:p>
            <a:pPr algn="l"/>
            <a:r>
              <a:rPr sz="1100" b="0">
                <a:solidFill>
                  <a:srgbClr val="69707A"/>
                </a:solidFill>
                <a:latin typeface="Aptos"/>
              </a:rPr>
              <a:t>Baseline</a:t>
            </a:r>
          </a:p>
        </p:txBody>
      </p:sp>
      <p:sp>
        <p:nvSpPr>
          <p:cNvPr id="16" name="TextBox 15"/>
          <p:cNvSpPr txBox="1"/>
          <p:nvPr/>
        </p:nvSpPr>
        <p:spPr>
          <a:xfrm>
            <a:off x="8503920" y="2240280"/>
            <a:ext cx="2011680" cy="502920"/>
          </a:xfrm>
          <a:prstGeom prst="rect">
            <a:avLst/>
          </a:prstGeom>
          <a:noFill/>
        </p:spPr>
        <p:txBody>
          <a:bodyPr wrap="square" anchor="t">
            <a:spAutoFit/>
          </a:bodyPr>
          <a:lstStyle/>
          <a:p>
            <a:pPr algn="l"/>
            <a:r>
              <a:rPr sz="2400" b="1">
                <a:solidFill>
                  <a:srgbClr val="1C1E22"/>
                </a:solidFill>
                <a:latin typeface="Aptos"/>
              </a:rPr>
              <a:t>75.76%</a:t>
            </a:r>
          </a:p>
        </p:txBody>
      </p:sp>
      <p:sp>
        <p:nvSpPr>
          <p:cNvPr id="17" name="TextBox 16"/>
          <p:cNvSpPr txBox="1"/>
          <p:nvPr/>
        </p:nvSpPr>
        <p:spPr>
          <a:xfrm>
            <a:off x="8503920" y="2788920"/>
            <a:ext cx="1371600" cy="228600"/>
          </a:xfrm>
          <a:prstGeom prst="rect">
            <a:avLst/>
          </a:prstGeom>
          <a:noFill/>
        </p:spPr>
        <p:txBody>
          <a:bodyPr wrap="square" anchor="t">
            <a:spAutoFit/>
          </a:bodyPr>
          <a:lstStyle/>
          <a:p>
            <a:pPr algn="l"/>
            <a:r>
              <a:rPr sz="1100" b="0">
                <a:solidFill>
                  <a:srgbClr val="69707A"/>
                </a:solidFill>
                <a:latin typeface="Aptos"/>
              </a:rPr>
              <a:t>Proposed</a:t>
            </a:r>
          </a:p>
        </p:txBody>
      </p:sp>
      <p:sp>
        <p:nvSpPr>
          <p:cNvPr id="18" name="TextBox 17"/>
          <p:cNvSpPr txBox="1"/>
          <p:nvPr/>
        </p:nvSpPr>
        <p:spPr>
          <a:xfrm>
            <a:off x="6492240" y="3182112"/>
            <a:ext cx="4389120" cy="274320"/>
          </a:xfrm>
          <a:prstGeom prst="rect">
            <a:avLst/>
          </a:prstGeom>
          <a:noFill/>
        </p:spPr>
        <p:txBody>
          <a:bodyPr wrap="square" anchor="t">
            <a:spAutoFit/>
          </a:bodyPr>
          <a:lstStyle/>
          <a:p>
            <a:pPr algn="l"/>
            <a:r>
              <a:rPr sz="1400" b="1">
                <a:solidFill>
                  <a:srgbClr val="50965B"/>
                </a:solidFill>
                <a:latin typeface="Aptos"/>
              </a:rPr>
              <a:t>+24.24 percentage points</a:t>
            </a:r>
          </a:p>
        </p:txBody>
      </p:sp>
      <p:sp>
        <p:nvSpPr>
          <p:cNvPr id="19" name="Rounded Rectangle 18"/>
          <p:cNvSpPr/>
          <p:nvPr/>
        </p:nvSpPr>
        <p:spPr>
          <a:xfrm>
            <a:off x="822960" y="3977639"/>
            <a:ext cx="10469880" cy="141732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4251960"/>
            <a:ext cx="1828800" cy="274320"/>
          </a:xfrm>
          <a:prstGeom prst="rect">
            <a:avLst/>
          </a:prstGeom>
          <a:noFill/>
        </p:spPr>
        <p:txBody>
          <a:bodyPr wrap="square" anchor="t">
            <a:spAutoFit/>
          </a:bodyPr>
          <a:lstStyle/>
          <a:p>
            <a:pPr algn="l"/>
            <a:r>
              <a:rPr sz="1400" b="1">
                <a:solidFill>
                  <a:srgbClr val="50965B"/>
                </a:solidFill>
                <a:latin typeface="Aptos"/>
              </a:rPr>
              <a:t>Interpretation</a:t>
            </a:r>
          </a:p>
        </p:txBody>
      </p:sp>
      <p:sp>
        <p:nvSpPr>
          <p:cNvPr id="21" name="TextBox 20"/>
          <p:cNvSpPr txBox="1"/>
          <p:nvPr/>
        </p:nvSpPr>
        <p:spPr>
          <a:xfrm>
            <a:off x="2560320" y="4206240"/>
            <a:ext cx="8229600" cy="822960"/>
          </a:xfrm>
          <a:prstGeom prst="rect">
            <a:avLst/>
          </a:prstGeom>
          <a:noFill/>
        </p:spPr>
        <p:txBody>
          <a:bodyPr wrap="square" anchor="t">
            <a:spAutoFit/>
          </a:bodyPr>
          <a:lstStyle/>
          <a:p>
            <a:pPr algn="l"/>
            <a:r>
              <a:rPr sz="1500" b="0">
                <a:solidFill>
                  <a:srgbClr val="373C44"/>
                </a:solidFill>
                <a:latin typeface="Aptos"/>
              </a:rPr>
              <a:t>Semantic/hybrid retrieval provides coarse filtering, while LLM reranking substantially improves precision by distinguishing concrete implementations from interfaces, base classes and test files. The MRR relative gain is 30.82%.</a:t>
            </a:r>
          </a:p>
        </p:txBody>
      </p:sp>
      <p:sp>
        <p:nvSpPr>
          <p:cNvPr id="22" name="TextBox 21"/>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Limitations &amp; Failure Analysis</a:t>
            </a:r>
          </a:p>
        </p:txBody>
      </p:sp>
      <p:sp>
        <p:nvSpPr>
          <p:cNvPr id="3" name="Rectangle 2"/>
          <p:cNvSpPr/>
          <p:nvPr/>
        </p:nvSpPr>
        <p:spPr>
          <a:xfrm>
            <a:off x="640080" y="932688"/>
            <a:ext cx="868680" cy="32004"/>
          </a:xfrm>
          <a:prstGeom prst="rect">
            <a:avLst/>
          </a:prstGeom>
          <a:solidFill>
            <a:srgbClr val="E06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417320"/>
            <a:ext cx="2331720" cy="320040"/>
          </a:xfrm>
          <a:prstGeom prst="rect">
            <a:avLst/>
          </a:prstGeom>
          <a:noFill/>
        </p:spPr>
        <p:txBody>
          <a:bodyPr wrap="square" anchor="t">
            <a:spAutoFit/>
          </a:bodyPr>
          <a:lstStyle/>
          <a:p>
            <a:pPr algn="l"/>
            <a:r>
              <a:rPr sz="1500" b="1">
                <a:solidFill>
                  <a:srgbClr val="1C1E22"/>
                </a:solidFill>
                <a:latin typeface="Aptos"/>
              </a:rPr>
              <a:t>Context overload</a:t>
            </a:r>
          </a:p>
        </p:txBody>
      </p:sp>
      <p:sp>
        <p:nvSpPr>
          <p:cNvPr id="5" name="TextBox 4"/>
          <p:cNvSpPr txBox="1"/>
          <p:nvPr/>
        </p:nvSpPr>
        <p:spPr>
          <a:xfrm>
            <a:off x="3017520" y="1399032"/>
            <a:ext cx="8229600" cy="658368"/>
          </a:xfrm>
          <a:prstGeom prst="rect">
            <a:avLst/>
          </a:prstGeom>
          <a:noFill/>
        </p:spPr>
        <p:txBody>
          <a:bodyPr wrap="square" anchor="t">
            <a:spAutoFit/>
          </a:bodyPr>
          <a:lstStyle/>
          <a:p>
            <a:pPr algn="l"/>
            <a:r>
              <a:rPr sz="1600" b="0">
                <a:solidFill>
                  <a:srgbClr val="373C44"/>
                </a:solidFill>
                <a:latin typeface="Aptos"/>
              </a:rPr>
              <a:t>Large retrieved files can exceed the LLM payload/token limit; file contents are aggressively truncated.</a:t>
            </a:r>
          </a:p>
        </p:txBody>
      </p:sp>
      <p:sp>
        <p:nvSpPr>
          <p:cNvPr id="6" name="TextBox 5"/>
          <p:cNvSpPr txBox="1"/>
          <p:nvPr/>
        </p:nvSpPr>
        <p:spPr>
          <a:xfrm>
            <a:off x="777240" y="2468880"/>
            <a:ext cx="2331720" cy="320040"/>
          </a:xfrm>
          <a:prstGeom prst="rect">
            <a:avLst/>
          </a:prstGeom>
          <a:noFill/>
        </p:spPr>
        <p:txBody>
          <a:bodyPr wrap="square" anchor="t">
            <a:spAutoFit/>
          </a:bodyPr>
          <a:lstStyle/>
          <a:p>
            <a:pPr algn="l"/>
            <a:r>
              <a:rPr sz="1500" b="1">
                <a:solidFill>
                  <a:srgbClr val="1C1E22"/>
                </a:solidFill>
                <a:latin typeface="Aptos"/>
              </a:rPr>
              <a:t>Diagram failures</a:t>
            </a:r>
          </a:p>
        </p:txBody>
      </p:sp>
      <p:sp>
        <p:nvSpPr>
          <p:cNvPr id="7" name="TextBox 6"/>
          <p:cNvSpPr txBox="1"/>
          <p:nvPr/>
        </p:nvSpPr>
        <p:spPr>
          <a:xfrm>
            <a:off x="3017520" y="2450592"/>
            <a:ext cx="8229600" cy="658368"/>
          </a:xfrm>
          <a:prstGeom prst="rect">
            <a:avLst/>
          </a:prstGeom>
          <a:noFill/>
        </p:spPr>
        <p:txBody>
          <a:bodyPr wrap="square" anchor="t">
            <a:spAutoFit/>
          </a:bodyPr>
          <a:lstStyle/>
          <a:p>
            <a:pPr algn="l"/>
            <a:r>
              <a:rPr sz="1600" b="0">
                <a:solidFill>
                  <a:srgbClr val="373C44"/>
                </a:solidFill>
                <a:latin typeface="Aptos"/>
              </a:rPr>
              <a:t>Mermaid syntax can occasionally be invalid, causing frontend diagram rendering failures.</a:t>
            </a:r>
          </a:p>
        </p:txBody>
      </p:sp>
      <p:sp>
        <p:nvSpPr>
          <p:cNvPr id="8" name="TextBox 7"/>
          <p:cNvSpPr txBox="1"/>
          <p:nvPr/>
        </p:nvSpPr>
        <p:spPr>
          <a:xfrm>
            <a:off x="777240" y="3520440"/>
            <a:ext cx="2331720" cy="320040"/>
          </a:xfrm>
          <a:prstGeom prst="rect">
            <a:avLst/>
          </a:prstGeom>
          <a:noFill/>
        </p:spPr>
        <p:txBody>
          <a:bodyPr wrap="square" anchor="t">
            <a:spAutoFit/>
          </a:bodyPr>
          <a:lstStyle/>
          <a:p>
            <a:pPr algn="l"/>
            <a:r>
              <a:rPr sz="1500" b="1">
                <a:solidFill>
                  <a:srgbClr val="1C1E22"/>
                </a:solidFill>
                <a:latin typeface="Aptos"/>
              </a:rPr>
              <a:t>Latency</a:t>
            </a:r>
          </a:p>
        </p:txBody>
      </p:sp>
      <p:sp>
        <p:nvSpPr>
          <p:cNvPr id="9" name="TextBox 8"/>
          <p:cNvSpPr txBox="1"/>
          <p:nvPr/>
        </p:nvSpPr>
        <p:spPr>
          <a:xfrm>
            <a:off x="3017520" y="3502152"/>
            <a:ext cx="8229600" cy="658368"/>
          </a:xfrm>
          <a:prstGeom prst="rect">
            <a:avLst/>
          </a:prstGeom>
          <a:noFill/>
        </p:spPr>
        <p:txBody>
          <a:bodyPr wrap="square" anchor="t">
            <a:spAutoFit/>
          </a:bodyPr>
          <a:lstStyle/>
          <a:p>
            <a:pPr algn="l"/>
            <a:r>
              <a:rPr sz="1600" b="0">
                <a:solidFill>
                  <a:srgbClr val="373C44"/>
                </a:solidFill>
                <a:latin typeface="Aptos"/>
              </a:rPr>
              <a:t>SentenceTransformer loading plus two sequential LLM calls creates a typical 3–5 second delay.</a:t>
            </a:r>
          </a:p>
        </p:txBody>
      </p:sp>
      <p:sp>
        <p:nvSpPr>
          <p:cNvPr id="10" name="TextBox 9"/>
          <p:cNvSpPr txBox="1"/>
          <p:nvPr/>
        </p:nvSpPr>
        <p:spPr>
          <a:xfrm>
            <a:off x="777240" y="4572000"/>
            <a:ext cx="2331720" cy="320040"/>
          </a:xfrm>
          <a:prstGeom prst="rect">
            <a:avLst/>
          </a:prstGeom>
          <a:noFill/>
        </p:spPr>
        <p:txBody>
          <a:bodyPr wrap="square" anchor="t">
            <a:spAutoFit/>
          </a:bodyPr>
          <a:lstStyle/>
          <a:p>
            <a:pPr algn="l"/>
            <a:r>
              <a:rPr sz="1500" b="1">
                <a:solidFill>
                  <a:srgbClr val="1C1E22"/>
                </a:solidFill>
                <a:latin typeface="Aptos"/>
              </a:rPr>
              <a:t>Abstract vs implementation bias</a:t>
            </a:r>
          </a:p>
        </p:txBody>
      </p:sp>
      <p:sp>
        <p:nvSpPr>
          <p:cNvPr id="11" name="TextBox 10"/>
          <p:cNvSpPr txBox="1"/>
          <p:nvPr/>
        </p:nvSpPr>
        <p:spPr>
          <a:xfrm>
            <a:off x="3017520" y="4553712"/>
            <a:ext cx="8229600" cy="658368"/>
          </a:xfrm>
          <a:prstGeom prst="rect">
            <a:avLst/>
          </a:prstGeom>
          <a:noFill/>
        </p:spPr>
        <p:txBody>
          <a:bodyPr wrap="square" anchor="t">
            <a:spAutoFit/>
          </a:bodyPr>
          <a:lstStyle/>
          <a:p>
            <a:pPr algn="l"/>
            <a:r>
              <a:rPr sz="1600" b="0">
                <a:solidFill>
                  <a:srgbClr val="373C44"/>
                </a:solidFill>
                <a:latin typeface="Aptos"/>
              </a:rPr>
              <a:t>Vector retrieval can still favor documentation or abstract interfaces over concrete business-logic classes.</a:t>
            </a:r>
          </a:p>
        </p:txBody>
      </p:sp>
      <p:sp>
        <p:nvSpPr>
          <p:cNvPr id="12" name="TextBox 11"/>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Conclusion &amp; Future Work</a:t>
            </a:r>
          </a:p>
        </p:txBody>
      </p:sp>
      <p:sp>
        <p:nvSpPr>
          <p:cNvPr id="3" name="Rectangle 2"/>
          <p:cNvSpPr/>
          <p:nvPr/>
        </p:nvSpPr>
        <p:spPr>
          <a:xfrm>
            <a:off x="640080" y="932688"/>
            <a:ext cx="868680" cy="32004"/>
          </a:xfrm>
          <a:prstGeom prst="rect">
            <a:avLst/>
          </a:prstGeom>
          <a:solidFill>
            <a:srgbClr val="509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417320"/>
            <a:ext cx="10652760" cy="2011680"/>
          </a:xfrm>
          <a:prstGeom prst="roundRect">
            <a:avLst>
              <a:gd name="adj" fmla="val 8000"/>
            </a:avLst>
          </a:prstGeom>
          <a:solidFill>
            <a:srgbClr val="FFFFFF"/>
          </a:solidFill>
          <a:ln w="25400">
            <a:solidFill>
              <a:srgbClr val="509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64792"/>
            <a:ext cx="10012680" cy="1325880"/>
          </a:xfrm>
          <a:prstGeom prst="rect">
            <a:avLst/>
          </a:prstGeom>
          <a:noFill/>
        </p:spPr>
        <p:txBody>
          <a:bodyPr wrap="square" anchor="ctr">
            <a:spAutoFit/>
          </a:bodyPr>
          <a:lstStyle/>
          <a:p>
            <a:pPr algn="l"/>
            <a:r>
              <a:rPr sz="1800" b="0">
                <a:solidFill>
                  <a:srgbClr val="1C1E22"/>
                </a:solidFill>
                <a:latin typeface="Aptos"/>
              </a:rPr>
              <a:t>The experiment supports the two-stage retrieval design: semantic/hybrid retrieval efficiently narrows the search space, while LLM reranking substantially improves the ranking of the correct implementation. Across 33 developer questions, Top-1 accuracy increased from 51.52% to 75.76%.</a:t>
            </a:r>
          </a:p>
        </p:txBody>
      </p:sp>
      <p:sp>
        <p:nvSpPr>
          <p:cNvPr id="6" name="TextBox 5"/>
          <p:cNvSpPr txBox="1"/>
          <p:nvPr/>
        </p:nvSpPr>
        <p:spPr>
          <a:xfrm>
            <a:off x="777240" y="3886200"/>
            <a:ext cx="2011680" cy="320040"/>
          </a:xfrm>
          <a:prstGeom prst="rect">
            <a:avLst/>
          </a:prstGeom>
          <a:noFill/>
        </p:spPr>
        <p:txBody>
          <a:bodyPr wrap="square" anchor="t">
            <a:spAutoFit/>
          </a:bodyPr>
          <a:lstStyle/>
          <a:p>
            <a:pPr algn="l"/>
            <a:r>
              <a:rPr sz="1500" b="1">
                <a:solidFill>
                  <a:srgbClr val="50965B"/>
                </a:solidFill>
                <a:latin typeface="Aptos"/>
              </a:rPr>
              <a:t>Future Work</a:t>
            </a:r>
          </a:p>
        </p:txBody>
      </p:sp>
      <p:sp>
        <p:nvSpPr>
          <p:cNvPr id="7" name="TextBox 6"/>
          <p:cNvSpPr txBox="1"/>
          <p:nvPr/>
        </p:nvSpPr>
        <p:spPr>
          <a:xfrm>
            <a:off x="1097280" y="4343400"/>
            <a:ext cx="9875520" cy="1417320"/>
          </a:xfrm>
          <a:prstGeom prst="rect">
            <a:avLst/>
          </a:prstGeom>
          <a:noFill/>
        </p:spPr>
        <p:txBody>
          <a:bodyPr wrap="square" anchor="t">
            <a:spAutoFit/>
          </a:bodyPr>
          <a:lstStyle/>
          <a:p>
            <a:pPr algn="l"/>
            <a:r>
              <a:rPr sz="1600" b="0">
                <a:solidFill>
                  <a:srgbClr val="373C44"/>
                </a:solidFill>
                <a:latin typeface="Aptos"/>
              </a:rPr>
              <a:t>• Expand evaluation with Recall@K, nDCG and answer-faithfulness/citation correctness.
• Introduce dependency-graph retrieval for deeper code relationships.
• Support additional programming languages and repositories.
• Enable incremental indexing as repositories evolve.</a:t>
            </a:r>
          </a:p>
        </p:txBody>
      </p:sp>
      <p:sp>
        <p:nvSpPr>
          <p:cNvPr id="8" name="TextBox 7"/>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47472"/>
            <a:ext cx="10881360" cy="475488"/>
          </a:xfrm>
          <a:prstGeom prst="rect">
            <a:avLst/>
          </a:prstGeom>
          <a:noFill/>
        </p:spPr>
        <p:txBody>
          <a:bodyPr wrap="square" anchor="t">
            <a:spAutoFit/>
          </a:bodyPr>
          <a:lstStyle/>
          <a:p>
            <a:pPr algn="l"/>
            <a:r>
              <a:rPr sz="2700" b="1">
                <a:solidFill>
                  <a:srgbClr val="1C1E22"/>
                </a:solidFill>
                <a:latin typeface="Aptos"/>
              </a:rPr>
              <a:t>Team Responsibility Matrix</a:t>
            </a:r>
          </a:p>
        </p:txBody>
      </p:sp>
      <p:sp>
        <p:nvSpPr>
          <p:cNvPr id="3" name="Rectangle 2"/>
          <p:cNvSpPr/>
          <p:nvPr/>
        </p:nvSpPr>
        <p:spPr>
          <a:xfrm>
            <a:off x="640080" y="932688"/>
            <a:ext cx="868680" cy="32004"/>
          </a:xfrm>
          <a:prstGeom prst="rect">
            <a:avLst/>
          </a:prstGeom>
          <a:solidFill>
            <a:srgbClr val="5F67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94360" y="1371600"/>
            <a:ext cx="201168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554480"/>
            <a:ext cx="1828800" cy="228600"/>
          </a:xfrm>
          <a:prstGeom prst="rect">
            <a:avLst/>
          </a:prstGeom>
          <a:noFill/>
        </p:spPr>
        <p:txBody>
          <a:bodyPr wrap="square" anchor="t">
            <a:spAutoFit/>
          </a:bodyPr>
          <a:lstStyle/>
          <a:p>
            <a:pPr algn="ctr"/>
            <a:endParaRPr/>
          </a:p>
        </p:txBody>
      </p:sp>
      <p:sp>
        <p:nvSpPr>
          <p:cNvPr id="6" name="Rounded Rectangle 5"/>
          <p:cNvSpPr/>
          <p:nvPr/>
        </p:nvSpPr>
        <p:spPr>
          <a:xfrm>
            <a:off x="2697480" y="1371600"/>
            <a:ext cx="297180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88920" y="1554480"/>
            <a:ext cx="2788920" cy="228600"/>
          </a:xfrm>
          <a:prstGeom prst="rect">
            <a:avLst/>
          </a:prstGeom>
          <a:noFill/>
        </p:spPr>
        <p:txBody>
          <a:bodyPr wrap="square" anchor="t">
            <a:spAutoFit/>
          </a:bodyPr>
          <a:lstStyle/>
          <a:p>
            <a:pPr algn="ctr"/>
            <a:r>
              <a:rPr sz="1250" b="1">
                <a:solidFill>
                  <a:srgbClr val="1C1E22"/>
                </a:solidFill>
                <a:latin typeface="Aptos"/>
              </a:rPr>
              <a:t>Depender Singh</a:t>
            </a:r>
          </a:p>
        </p:txBody>
      </p:sp>
      <p:sp>
        <p:nvSpPr>
          <p:cNvPr id="8" name="Rounded Rectangle 7"/>
          <p:cNvSpPr/>
          <p:nvPr/>
        </p:nvSpPr>
        <p:spPr>
          <a:xfrm>
            <a:off x="5806440" y="1371600"/>
            <a:ext cx="297180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97879" y="1554480"/>
            <a:ext cx="2788920" cy="228600"/>
          </a:xfrm>
          <a:prstGeom prst="rect">
            <a:avLst/>
          </a:prstGeom>
          <a:noFill/>
        </p:spPr>
        <p:txBody>
          <a:bodyPr wrap="square" anchor="t">
            <a:spAutoFit/>
          </a:bodyPr>
          <a:lstStyle/>
          <a:p>
            <a:pPr algn="ctr"/>
            <a:r>
              <a:rPr sz="1250" b="1">
                <a:solidFill>
                  <a:srgbClr val="1C1E22"/>
                </a:solidFill>
                <a:latin typeface="Aptos"/>
              </a:rPr>
              <a:t>Manya Agarwal</a:t>
            </a:r>
          </a:p>
        </p:txBody>
      </p:sp>
      <p:sp>
        <p:nvSpPr>
          <p:cNvPr id="10" name="Rounded Rectangle 9"/>
          <p:cNvSpPr/>
          <p:nvPr/>
        </p:nvSpPr>
        <p:spPr>
          <a:xfrm>
            <a:off x="8915400" y="1371600"/>
            <a:ext cx="265176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06840" y="1554480"/>
            <a:ext cx="2468879" cy="228600"/>
          </a:xfrm>
          <a:prstGeom prst="rect">
            <a:avLst/>
          </a:prstGeom>
          <a:noFill/>
        </p:spPr>
        <p:txBody>
          <a:bodyPr wrap="square" anchor="t">
            <a:spAutoFit/>
          </a:bodyPr>
          <a:lstStyle/>
          <a:p>
            <a:pPr algn="ctr"/>
            <a:r>
              <a:rPr sz="1250" b="1">
                <a:solidFill>
                  <a:srgbClr val="1C1E22"/>
                </a:solidFill>
                <a:latin typeface="Aptos"/>
              </a:rPr>
              <a:t>Anmol Chaturvedi</a:t>
            </a:r>
          </a:p>
        </p:txBody>
      </p:sp>
      <p:sp>
        <p:nvSpPr>
          <p:cNvPr id="12" name="Rounded Rectangle 11"/>
          <p:cNvSpPr/>
          <p:nvPr/>
        </p:nvSpPr>
        <p:spPr>
          <a:xfrm>
            <a:off x="594360" y="2148840"/>
            <a:ext cx="201168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2258568"/>
            <a:ext cx="1792224" cy="457199"/>
          </a:xfrm>
          <a:prstGeom prst="rect">
            <a:avLst/>
          </a:prstGeom>
          <a:noFill/>
        </p:spPr>
        <p:txBody>
          <a:bodyPr wrap="square" anchor="ctr">
            <a:spAutoFit/>
          </a:bodyPr>
          <a:lstStyle/>
          <a:p>
            <a:pPr algn="ctr"/>
            <a:r>
              <a:rPr sz="1300" b="1">
                <a:solidFill>
                  <a:srgbClr val="1C1E22"/>
                </a:solidFill>
                <a:latin typeface="Aptos"/>
              </a:rPr>
              <a:t>Primary Area</a:t>
            </a:r>
          </a:p>
        </p:txBody>
      </p:sp>
      <p:sp>
        <p:nvSpPr>
          <p:cNvPr id="14" name="Rounded Rectangle 13"/>
          <p:cNvSpPr/>
          <p:nvPr/>
        </p:nvSpPr>
        <p:spPr>
          <a:xfrm>
            <a:off x="2697480" y="2148840"/>
            <a:ext cx="297180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07208" y="2258568"/>
            <a:ext cx="2752344" cy="457199"/>
          </a:xfrm>
          <a:prstGeom prst="rect">
            <a:avLst/>
          </a:prstGeom>
          <a:noFill/>
        </p:spPr>
        <p:txBody>
          <a:bodyPr wrap="square" anchor="ctr">
            <a:spAutoFit/>
          </a:bodyPr>
          <a:lstStyle/>
          <a:p>
            <a:pPr algn="ctr"/>
            <a:r>
              <a:rPr sz="1300" b="1">
                <a:solidFill>
                  <a:srgbClr val="1C1E22"/>
                </a:solidFill>
                <a:latin typeface="Aptos"/>
              </a:rPr>
              <a:t>RAG &amp; Backend</a:t>
            </a:r>
          </a:p>
        </p:txBody>
      </p:sp>
      <p:sp>
        <p:nvSpPr>
          <p:cNvPr id="16" name="Rounded Rectangle 15"/>
          <p:cNvSpPr/>
          <p:nvPr/>
        </p:nvSpPr>
        <p:spPr>
          <a:xfrm>
            <a:off x="5806440" y="2148840"/>
            <a:ext cx="297180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16168" y="2258568"/>
            <a:ext cx="2752344" cy="457199"/>
          </a:xfrm>
          <a:prstGeom prst="rect">
            <a:avLst/>
          </a:prstGeom>
          <a:noFill/>
        </p:spPr>
        <p:txBody>
          <a:bodyPr wrap="square" anchor="ctr">
            <a:spAutoFit/>
          </a:bodyPr>
          <a:lstStyle/>
          <a:p>
            <a:pPr algn="ctr"/>
            <a:r>
              <a:rPr sz="1300" b="1">
                <a:solidFill>
                  <a:srgbClr val="1C1E22"/>
                </a:solidFill>
                <a:latin typeface="Aptos"/>
              </a:rPr>
              <a:t>LLM &amp; Answer Generation</a:t>
            </a:r>
          </a:p>
        </p:txBody>
      </p:sp>
      <p:sp>
        <p:nvSpPr>
          <p:cNvPr id="18" name="Rounded Rectangle 17"/>
          <p:cNvSpPr/>
          <p:nvPr/>
        </p:nvSpPr>
        <p:spPr>
          <a:xfrm>
            <a:off x="8915400" y="2148840"/>
            <a:ext cx="2651760" cy="6400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25128" y="2258568"/>
            <a:ext cx="2432304" cy="457199"/>
          </a:xfrm>
          <a:prstGeom prst="rect">
            <a:avLst/>
          </a:prstGeom>
          <a:noFill/>
        </p:spPr>
        <p:txBody>
          <a:bodyPr wrap="square" anchor="ctr">
            <a:spAutoFit/>
          </a:bodyPr>
          <a:lstStyle/>
          <a:p>
            <a:pPr algn="ctr"/>
            <a:r>
              <a:rPr sz="1300" b="1">
                <a:solidFill>
                  <a:srgbClr val="1C1E22"/>
                </a:solidFill>
                <a:latin typeface="Aptos"/>
              </a:rPr>
              <a:t>Frontend &amp; Evaluation</a:t>
            </a:r>
          </a:p>
        </p:txBody>
      </p:sp>
      <p:sp>
        <p:nvSpPr>
          <p:cNvPr id="20" name="Rounded Rectangle 19"/>
          <p:cNvSpPr/>
          <p:nvPr/>
        </p:nvSpPr>
        <p:spPr>
          <a:xfrm>
            <a:off x="594360" y="2926080"/>
            <a:ext cx="2011680" cy="15544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3035808"/>
            <a:ext cx="1792224" cy="1371600"/>
          </a:xfrm>
          <a:prstGeom prst="rect">
            <a:avLst/>
          </a:prstGeom>
          <a:noFill/>
        </p:spPr>
        <p:txBody>
          <a:bodyPr wrap="square" anchor="ctr">
            <a:spAutoFit/>
          </a:bodyPr>
          <a:lstStyle/>
          <a:p>
            <a:pPr algn="ctr"/>
            <a:r>
              <a:rPr sz="1250" b="0">
                <a:solidFill>
                  <a:srgbClr val="1C1E22"/>
                </a:solidFill>
                <a:latin typeface="Aptos"/>
              </a:rPr>
              <a:t>Key Work</a:t>
            </a:r>
          </a:p>
        </p:txBody>
      </p:sp>
      <p:sp>
        <p:nvSpPr>
          <p:cNvPr id="22" name="Rounded Rectangle 21"/>
          <p:cNvSpPr/>
          <p:nvPr/>
        </p:nvSpPr>
        <p:spPr>
          <a:xfrm>
            <a:off x="2697480" y="2926080"/>
            <a:ext cx="2971800" cy="15544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807208" y="3035808"/>
            <a:ext cx="2752344" cy="1371600"/>
          </a:xfrm>
          <a:prstGeom prst="rect">
            <a:avLst/>
          </a:prstGeom>
          <a:noFill/>
        </p:spPr>
        <p:txBody>
          <a:bodyPr wrap="square" anchor="ctr">
            <a:spAutoFit/>
          </a:bodyPr>
          <a:lstStyle/>
          <a:p>
            <a:pPr algn="ctr"/>
            <a:r>
              <a:rPr sz="1250" b="0">
                <a:solidFill>
                  <a:srgbClr val="1C1E22"/>
                </a:solidFill>
                <a:latin typeface="Aptos"/>
              </a:rPr>
              <a:t>PHP extraction
Embeddings
ChromaDB
FastAPI
Retrieval</a:t>
            </a:r>
          </a:p>
        </p:txBody>
      </p:sp>
      <p:sp>
        <p:nvSpPr>
          <p:cNvPr id="24" name="Rounded Rectangle 23"/>
          <p:cNvSpPr/>
          <p:nvPr/>
        </p:nvSpPr>
        <p:spPr>
          <a:xfrm>
            <a:off x="5806440" y="2926080"/>
            <a:ext cx="2971800" cy="15544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16168" y="3035808"/>
            <a:ext cx="2752344" cy="1371600"/>
          </a:xfrm>
          <a:prstGeom prst="rect">
            <a:avLst/>
          </a:prstGeom>
          <a:noFill/>
        </p:spPr>
        <p:txBody>
          <a:bodyPr wrap="square" anchor="ctr">
            <a:spAutoFit/>
          </a:bodyPr>
          <a:lstStyle/>
          <a:p>
            <a:pPr algn="ctr"/>
            <a:r>
              <a:rPr sz="1250" b="0">
                <a:solidFill>
                  <a:srgbClr val="1C1E22"/>
                </a:solidFill>
                <a:latin typeface="Aptos"/>
              </a:rPr>
              <a:t>LangChain
Groq / Qwen
Re-ranking
Grounded prompts
Mermaid generation</a:t>
            </a:r>
          </a:p>
        </p:txBody>
      </p:sp>
      <p:sp>
        <p:nvSpPr>
          <p:cNvPr id="26" name="Rounded Rectangle 25"/>
          <p:cNvSpPr/>
          <p:nvPr/>
        </p:nvSpPr>
        <p:spPr>
          <a:xfrm>
            <a:off x="8915400" y="2926080"/>
            <a:ext cx="2651760" cy="155448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25128" y="3035808"/>
            <a:ext cx="2432304" cy="1371600"/>
          </a:xfrm>
          <a:prstGeom prst="rect">
            <a:avLst/>
          </a:prstGeom>
          <a:noFill/>
        </p:spPr>
        <p:txBody>
          <a:bodyPr wrap="square" anchor="ctr">
            <a:spAutoFit/>
          </a:bodyPr>
          <a:lstStyle/>
          <a:p>
            <a:pPr algn="ctr"/>
            <a:r>
              <a:rPr sz="1250" b="0">
                <a:solidFill>
                  <a:srgbClr val="1C1E22"/>
                </a:solidFill>
                <a:latin typeface="Aptos"/>
              </a:rPr>
              <a:t>UI &amp; Visualization
33-question benchmark
Pytest &amp; evaluation
Bug fixing &amp; data coverage
Result validation
Reranking &amp; diagram fixes</a:t>
            </a:r>
          </a:p>
        </p:txBody>
      </p:sp>
      <p:sp>
        <p:nvSpPr>
          <p:cNvPr id="28" name="Rounded Rectangle 27"/>
          <p:cNvSpPr/>
          <p:nvPr/>
        </p:nvSpPr>
        <p:spPr>
          <a:xfrm>
            <a:off x="594360" y="4617720"/>
            <a:ext cx="2011680" cy="77724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 y="4727448"/>
            <a:ext cx="1792224" cy="594359"/>
          </a:xfrm>
          <a:prstGeom prst="rect">
            <a:avLst/>
          </a:prstGeom>
          <a:noFill/>
        </p:spPr>
        <p:txBody>
          <a:bodyPr wrap="square" anchor="ctr">
            <a:spAutoFit/>
          </a:bodyPr>
          <a:lstStyle/>
          <a:p>
            <a:pPr algn="ctr"/>
            <a:r>
              <a:rPr sz="1300" b="0">
                <a:solidFill>
                  <a:srgbClr val="1C1E22"/>
                </a:solidFill>
                <a:latin typeface="Aptos"/>
              </a:rPr>
              <a:t>Must Explain</a:t>
            </a:r>
          </a:p>
        </p:txBody>
      </p:sp>
      <p:sp>
        <p:nvSpPr>
          <p:cNvPr id="30" name="Rounded Rectangle 29"/>
          <p:cNvSpPr/>
          <p:nvPr/>
        </p:nvSpPr>
        <p:spPr>
          <a:xfrm>
            <a:off x="2697480" y="4617720"/>
            <a:ext cx="2971800" cy="77724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807208" y="4727448"/>
            <a:ext cx="2752344" cy="594359"/>
          </a:xfrm>
          <a:prstGeom prst="rect">
            <a:avLst/>
          </a:prstGeom>
          <a:noFill/>
        </p:spPr>
        <p:txBody>
          <a:bodyPr wrap="square" anchor="ctr">
            <a:spAutoFit/>
          </a:bodyPr>
          <a:lstStyle/>
          <a:p>
            <a:pPr algn="ctr"/>
            <a:r>
              <a:rPr sz="1300" b="0">
                <a:solidFill>
                  <a:srgbClr val="1C1E22"/>
                </a:solidFill>
                <a:latin typeface="Aptos"/>
              </a:rPr>
              <a:t>Ingestion → retrieval</a:t>
            </a:r>
          </a:p>
        </p:txBody>
      </p:sp>
      <p:sp>
        <p:nvSpPr>
          <p:cNvPr id="32" name="Rounded Rectangle 31"/>
          <p:cNvSpPr/>
          <p:nvPr/>
        </p:nvSpPr>
        <p:spPr>
          <a:xfrm>
            <a:off x="5806440" y="4617720"/>
            <a:ext cx="2971800" cy="77724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16168" y="4727448"/>
            <a:ext cx="2752344" cy="594359"/>
          </a:xfrm>
          <a:prstGeom prst="rect">
            <a:avLst/>
          </a:prstGeom>
          <a:noFill/>
        </p:spPr>
        <p:txBody>
          <a:bodyPr wrap="square" anchor="ctr">
            <a:spAutoFit/>
          </a:bodyPr>
          <a:lstStyle/>
          <a:p>
            <a:pPr algn="ctr"/>
            <a:r>
              <a:rPr sz="1300" b="0">
                <a:solidFill>
                  <a:srgbClr val="1C1E22"/>
                </a:solidFill>
                <a:latin typeface="Aptos"/>
              </a:rPr>
              <a:t>Context → reranking → answer</a:t>
            </a:r>
          </a:p>
        </p:txBody>
      </p:sp>
      <p:sp>
        <p:nvSpPr>
          <p:cNvPr id="34" name="Rounded Rectangle 33"/>
          <p:cNvSpPr/>
          <p:nvPr/>
        </p:nvSpPr>
        <p:spPr>
          <a:xfrm>
            <a:off x="8915400" y="4617720"/>
            <a:ext cx="2651760" cy="777240"/>
          </a:xfrm>
          <a:prstGeom prst="roundRect">
            <a:avLst>
              <a:gd name="adj" fmla="val 8000"/>
            </a:avLst>
          </a:prstGeom>
          <a:solidFill>
            <a:srgbClr val="FFFFFF"/>
          </a:solidFill>
          <a:ln w="16510">
            <a:solidFill>
              <a:srgbClr val="D7DA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25128" y="4727448"/>
            <a:ext cx="2432304" cy="594359"/>
          </a:xfrm>
          <a:prstGeom prst="rect">
            <a:avLst/>
          </a:prstGeom>
          <a:noFill/>
        </p:spPr>
        <p:txBody>
          <a:bodyPr wrap="square" anchor="ctr">
            <a:spAutoFit/>
          </a:bodyPr>
          <a:lstStyle/>
          <a:p>
            <a:pPr algn="ctr"/>
            <a:r>
              <a:rPr sz="1300" b="0">
                <a:solidFill>
                  <a:srgbClr val="1C1E22"/>
                </a:solidFill>
                <a:latin typeface="Aptos"/>
              </a:rPr>
              <a:t>UI → results → evaluation</a:t>
            </a:r>
          </a:p>
        </p:txBody>
      </p:sp>
      <p:sp>
        <p:nvSpPr>
          <p:cNvPr id="36" name="TextBox 35"/>
          <p:cNvSpPr txBox="1"/>
          <p:nvPr/>
        </p:nvSpPr>
        <p:spPr>
          <a:xfrm>
            <a:off x="1005840" y="5897880"/>
            <a:ext cx="10058400" cy="320040"/>
          </a:xfrm>
          <a:prstGeom prst="rect">
            <a:avLst/>
          </a:prstGeom>
          <a:noFill/>
        </p:spPr>
        <p:txBody>
          <a:bodyPr wrap="square" anchor="t">
            <a:spAutoFit/>
          </a:bodyPr>
          <a:lstStyle/>
          <a:p>
            <a:pPr algn="ctr"/>
            <a:r>
              <a:rPr sz="1350" b="1">
                <a:solidFill>
                  <a:srgbClr val="1C1E22"/>
                </a:solidFill>
                <a:latin typeface="Aptos"/>
              </a:rPr>
              <a:t>All three members should be able to explain the complete project pipeline.</a:t>
            </a:r>
          </a:p>
        </p:txBody>
      </p:sp>
      <p:sp>
        <p:nvSpPr>
          <p:cNvPr id="37" name="TextBox 36"/>
          <p:cNvSpPr txBox="1"/>
          <p:nvPr/>
        </p:nvSpPr>
        <p:spPr>
          <a:xfrm>
            <a:off x="11109960" y="6455664"/>
            <a:ext cx="411480" cy="201168"/>
          </a:xfrm>
          <a:prstGeom prst="rect">
            <a:avLst/>
          </a:prstGeom>
          <a:noFill/>
        </p:spPr>
        <p:txBody>
          <a:bodyPr wrap="square" anchor="t">
            <a:spAutoFit/>
          </a:bodyPr>
          <a:lstStyle/>
          <a:p>
            <a:pPr algn="r"/>
            <a:r>
              <a:rPr sz="900" b="1">
                <a:solidFill>
                  <a:srgbClr val="69707A"/>
                </a:solidFill>
                <a:latin typeface="Apto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1201</Words>
  <Application>Microsoft Office PowerPoint</Application>
  <PresentationFormat>Widescreen</PresentationFormat>
  <Paragraphs>192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Manya Agarwal</dc:creator>
  <cp:keywords/>
  <dc:description>generated using python-pptx</dc:description>
  <cp:lastModifiedBy>Manya Agarwal</cp:lastModifiedBy>
  <cp:revision>3</cp:revision>
  <dcterms:created xsi:type="dcterms:W3CDTF">2013-01-27T09:14:16Z</dcterms:created>
  <dcterms:modified xsi:type="dcterms:W3CDTF">2026-10-06T12:07:58Z</dcterms:modified>
  <cp:category/>
</cp:coreProperties>
</file>